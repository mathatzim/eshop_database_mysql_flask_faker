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256" r:id="rId2"/>
    <p:sldId id="257" r:id="rId3"/>
    <p:sldId id="258" r:id="rId4"/>
    <p:sldId id="280" r:id="rId5"/>
    <p:sldId id="260" r:id="rId6"/>
    <p:sldId id="261" r:id="rId7"/>
    <p:sldId id="262" r:id="rId8"/>
    <p:sldId id="263" r:id="rId9"/>
    <p:sldId id="264" r:id="rId10"/>
    <p:sldId id="265" r:id="rId11"/>
    <p:sldId id="266" r:id="rId12"/>
    <p:sldId id="267" r:id="rId13"/>
    <p:sldId id="268" r:id="rId14"/>
    <p:sldId id="269" r:id="rId15"/>
    <p:sldId id="270" r:id="rId16"/>
    <p:sldId id="279"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57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6" d="100"/>
          <a:sy n="86" d="100"/>
        </p:scale>
        <p:origin x="108" y="1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A5AC9A-DE6F-4C42-BE62-ACB8E905B27C}" type="datetimeFigureOut">
              <a:rPr lang="el-GR" smtClean="0"/>
              <a:t>24/01/2024</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E86AA2-5E3D-455C-8BF4-9139DEEAC108}" type="slidenum">
              <a:rPr lang="el-GR" smtClean="0"/>
              <a:t>‹#›</a:t>
            </a:fld>
            <a:endParaRPr lang="el-GR"/>
          </a:p>
        </p:txBody>
      </p:sp>
    </p:spTree>
    <p:extLst>
      <p:ext uri="{BB962C8B-B14F-4D97-AF65-F5344CB8AC3E}">
        <p14:creationId xmlns:p14="http://schemas.microsoft.com/office/powerpoint/2010/main" val="2984731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l-G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l-GR"/>
          </a:p>
        </p:txBody>
      </p:sp>
      <p:sp>
        <p:nvSpPr>
          <p:cNvPr id="4" name="Date Placeholder 3"/>
          <p:cNvSpPr>
            <a:spLocks noGrp="1"/>
          </p:cNvSpPr>
          <p:nvPr>
            <p:ph type="dt" sz="half" idx="10"/>
          </p:nvPr>
        </p:nvSpPr>
        <p:spPr/>
        <p:txBody>
          <a:bodyPr/>
          <a:lstStyle/>
          <a:p>
            <a:fld id="{AE1B45A6-B8E8-4E52-8989-7016D98D30FC}" type="datetime1">
              <a:rPr lang="el-GR" smtClean="0"/>
              <a:t>24/01/2024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5D617892-D5B5-4468-B8C4-C6F28AD00A19}" type="slidenum">
              <a:rPr lang="el-GR" smtClean="0"/>
              <a:t>‹#›</a:t>
            </a:fld>
            <a:endParaRPr lang="el-GR"/>
          </a:p>
        </p:txBody>
      </p:sp>
    </p:spTree>
    <p:extLst>
      <p:ext uri="{BB962C8B-B14F-4D97-AF65-F5344CB8AC3E}">
        <p14:creationId xmlns:p14="http://schemas.microsoft.com/office/powerpoint/2010/main" val="3914693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8065FC01-DC6B-4085-8636-F6DE9ED53867}" type="datetime1">
              <a:rPr lang="el-GR" smtClean="0"/>
              <a:t>24/01/2024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5D617892-D5B5-4468-B8C4-C6F28AD00A19}" type="slidenum">
              <a:rPr lang="el-GR" smtClean="0"/>
              <a:t>‹#›</a:t>
            </a:fld>
            <a:endParaRPr lang="el-GR"/>
          </a:p>
        </p:txBody>
      </p:sp>
    </p:spTree>
    <p:extLst>
      <p:ext uri="{BB962C8B-B14F-4D97-AF65-F5344CB8AC3E}">
        <p14:creationId xmlns:p14="http://schemas.microsoft.com/office/powerpoint/2010/main" val="1132114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l-G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CC12334-4C76-4654-94C8-EBF90E0325AD}" type="datetime1">
              <a:rPr lang="el-GR" smtClean="0"/>
              <a:t>24/01/2024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5D617892-D5B5-4468-B8C4-C6F28AD00A19}" type="slidenum">
              <a:rPr lang="el-GR" smtClean="0"/>
              <a:t>‹#›</a:t>
            </a:fld>
            <a:endParaRPr lang="el-GR"/>
          </a:p>
        </p:txBody>
      </p:sp>
    </p:spTree>
    <p:extLst>
      <p:ext uri="{BB962C8B-B14F-4D97-AF65-F5344CB8AC3E}">
        <p14:creationId xmlns:p14="http://schemas.microsoft.com/office/powerpoint/2010/main" val="3221121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Date Placeholder 4"/>
          <p:cNvSpPr>
            <a:spLocks noGrp="1"/>
          </p:cNvSpPr>
          <p:nvPr>
            <p:ph type="dt" sz="half" idx="10"/>
          </p:nvPr>
        </p:nvSpPr>
        <p:spPr/>
        <p:txBody>
          <a:bodyPr/>
          <a:lstStyle/>
          <a:p>
            <a:fld id="{430B9070-9308-4AB9-AF0D-EE734C0E592D}" type="datetime1">
              <a:rPr lang="el-GR" smtClean="0"/>
              <a:t>24/01/2024</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5D617892-D5B5-4468-B8C4-C6F28AD00A19}" type="slidenum">
              <a:rPr lang="el-GR" smtClean="0"/>
              <a:t>‹#›</a:t>
            </a:fld>
            <a:endParaRPr lang="el-GR"/>
          </a:p>
        </p:txBody>
      </p:sp>
    </p:spTree>
    <p:extLst>
      <p:ext uri="{BB962C8B-B14F-4D97-AF65-F5344CB8AC3E}">
        <p14:creationId xmlns:p14="http://schemas.microsoft.com/office/powerpoint/2010/main" val="3611478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l-G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7" name="Date Placeholder 6"/>
          <p:cNvSpPr>
            <a:spLocks noGrp="1"/>
          </p:cNvSpPr>
          <p:nvPr>
            <p:ph type="dt" sz="half" idx="10"/>
          </p:nvPr>
        </p:nvSpPr>
        <p:spPr/>
        <p:txBody>
          <a:bodyPr/>
          <a:lstStyle/>
          <a:p>
            <a:fld id="{8A3F6920-7CE5-4AA7-8791-A0CEF1E9BC30}" type="datetime1">
              <a:rPr lang="el-GR" smtClean="0"/>
              <a:t>24/01/2024</a:t>
            </a:fld>
            <a:endParaRPr lang="el-GR"/>
          </a:p>
        </p:txBody>
      </p:sp>
      <p:sp>
        <p:nvSpPr>
          <p:cNvPr id="8" name="Footer Placeholder 7"/>
          <p:cNvSpPr>
            <a:spLocks noGrp="1"/>
          </p:cNvSpPr>
          <p:nvPr>
            <p:ph type="ftr" sz="quarter" idx="11"/>
          </p:nvPr>
        </p:nvSpPr>
        <p:spPr/>
        <p:txBody>
          <a:bodyPr/>
          <a:lstStyle/>
          <a:p>
            <a:endParaRPr lang="el-GR"/>
          </a:p>
        </p:txBody>
      </p:sp>
      <p:sp>
        <p:nvSpPr>
          <p:cNvPr id="9" name="Slide Number Placeholder 8"/>
          <p:cNvSpPr>
            <a:spLocks noGrp="1"/>
          </p:cNvSpPr>
          <p:nvPr>
            <p:ph type="sldNum" sz="quarter" idx="12"/>
          </p:nvPr>
        </p:nvSpPr>
        <p:spPr/>
        <p:txBody>
          <a:bodyPr/>
          <a:lstStyle/>
          <a:p>
            <a:fld id="{5D617892-D5B5-4468-B8C4-C6F28AD00A19}" type="slidenum">
              <a:rPr lang="el-GR" smtClean="0"/>
              <a:t>‹#›</a:t>
            </a:fld>
            <a:endParaRPr lang="el-GR"/>
          </a:p>
        </p:txBody>
      </p:sp>
    </p:spTree>
    <p:extLst>
      <p:ext uri="{BB962C8B-B14F-4D97-AF65-F5344CB8AC3E}">
        <p14:creationId xmlns:p14="http://schemas.microsoft.com/office/powerpoint/2010/main" val="1425112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Date Placeholder 2"/>
          <p:cNvSpPr>
            <a:spLocks noGrp="1"/>
          </p:cNvSpPr>
          <p:nvPr>
            <p:ph type="dt" sz="half" idx="10"/>
          </p:nvPr>
        </p:nvSpPr>
        <p:spPr/>
        <p:txBody>
          <a:bodyPr/>
          <a:lstStyle/>
          <a:p>
            <a:fld id="{3A8E1B57-2F4F-44A0-B4CB-160347C03317}" type="datetime1">
              <a:rPr lang="el-GR" smtClean="0"/>
              <a:t>24/01/2024</a:t>
            </a:fld>
            <a:endParaRPr lang="el-GR"/>
          </a:p>
        </p:txBody>
      </p:sp>
      <p:sp>
        <p:nvSpPr>
          <p:cNvPr id="4" name="Footer Placeholder 3"/>
          <p:cNvSpPr>
            <a:spLocks noGrp="1"/>
          </p:cNvSpPr>
          <p:nvPr>
            <p:ph type="ftr" sz="quarter" idx="11"/>
          </p:nvPr>
        </p:nvSpPr>
        <p:spPr/>
        <p:txBody>
          <a:bodyPr/>
          <a:lstStyle/>
          <a:p>
            <a:endParaRPr lang="el-GR"/>
          </a:p>
        </p:txBody>
      </p:sp>
      <p:sp>
        <p:nvSpPr>
          <p:cNvPr id="5" name="Slide Number Placeholder 4"/>
          <p:cNvSpPr>
            <a:spLocks noGrp="1"/>
          </p:cNvSpPr>
          <p:nvPr>
            <p:ph type="sldNum" sz="quarter" idx="12"/>
          </p:nvPr>
        </p:nvSpPr>
        <p:spPr/>
        <p:txBody>
          <a:bodyPr/>
          <a:lstStyle/>
          <a:p>
            <a:fld id="{5D617892-D5B5-4468-B8C4-C6F28AD00A19}" type="slidenum">
              <a:rPr lang="el-GR" smtClean="0"/>
              <a:t>‹#›</a:t>
            </a:fld>
            <a:endParaRPr lang="el-GR"/>
          </a:p>
        </p:txBody>
      </p:sp>
    </p:spTree>
    <p:extLst>
      <p:ext uri="{BB962C8B-B14F-4D97-AF65-F5344CB8AC3E}">
        <p14:creationId xmlns:p14="http://schemas.microsoft.com/office/powerpoint/2010/main" val="2704683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7A8B67-478A-4765-BA5A-8B72379FEC2D}" type="datetime1">
              <a:rPr lang="el-GR" smtClean="0"/>
              <a:t>24/01/2024</a:t>
            </a:fld>
            <a:endParaRPr lang="el-GR"/>
          </a:p>
        </p:txBody>
      </p:sp>
      <p:sp>
        <p:nvSpPr>
          <p:cNvPr id="3" name="Footer Placeholder 2"/>
          <p:cNvSpPr>
            <a:spLocks noGrp="1"/>
          </p:cNvSpPr>
          <p:nvPr>
            <p:ph type="ftr" sz="quarter" idx="11"/>
          </p:nvPr>
        </p:nvSpPr>
        <p:spPr/>
        <p:txBody>
          <a:bodyPr/>
          <a:lstStyle/>
          <a:p>
            <a:endParaRPr lang="el-GR"/>
          </a:p>
        </p:txBody>
      </p:sp>
      <p:sp>
        <p:nvSpPr>
          <p:cNvPr id="4" name="Slide Number Placeholder 3"/>
          <p:cNvSpPr>
            <a:spLocks noGrp="1"/>
          </p:cNvSpPr>
          <p:nvPr>
            <p:ph type="sldNum" sz="quarter" idx="12"/>
          </p:nvPr>
        </p:nvSpPr>
        <p:spPr/>
        <p:txBody>
          <a:bodyPr/>
          <a:lstStyle/>
          <a:p>
            <a:fld id="{5D617892-D5B5-4468-B8C4-C6F28AD00A19}" type="slidenum">
              <a:rPr lang="el-GR" smtClean="0"/>
              <a:t>‹#›</a:t>
            </a:fld>
            <a:endParaRPr lang="el-GR"/>
          </a:p>
        </p:txBody>
      </p:sp>
    </p:spTree>
    <p:extLst>
      <p:ext uri="{BB962C8B-B14F-4D97-AF65-F5344CB8AC3E}">
        <p14:creationId xmlns:p14="http://schemas.microsoft.com/office/powerpoint/2010/main" val="3829800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l-G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84D4299-B091-4DF9-839A-297B9FFCE34F}" type="datetime1">
              <a:rPr lang="el-GR" smtClean="0"/>
              <a:t>24/01/2024</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5D617892-D5B5-4468-B8C4-C6F28AD00A19}" type="slidenum">
              <a:rPr lang="el-GR" smtClean="0"/>
              <a:t>‹#›</a:t>
            </a:fld>
            <a:endParaRPr lang="el-GR"/>
          </a:p>
        </p:txBody>
      </p:sp>
    </p:spTree>
    <p:extLst>
      <p:ext uri="{BB962C8B-B14F-4D97-AF65-F5344CB8AC3E}">
        <p14:creationId xmlns:p14="http://schemas.microsoft.com/office/powerpoint/2010/main" val="3330619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l-G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2DCD415-33B5-4BEE-A66E-D3D940229893}" type="datetime1">
              <a:rPr lang="el-GR" smtClean="0"/>
              <a:t>24/01/2024</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5D617892-D5B5-4468-B8C4-C6F28AD00A19}" type="slidenum">
              <a:rPr lang="el-GR" smtClean="0"/>
              <a:t>‹#›</a:t>
            </a:fld>
            <a:endParaRPr lang="el-GR"/>
          </a:p>
        </p:txBody>
      </p:sp>
    </p:spTree>
    <p:extLst>
      <p:ext uri="{BB962C8B-B14F-4D97-AF65-F5344CB8AC3E}">
        <p14:creationId xmlns:p14="http://schemas.microsoft.com/office/powerpoint/2010/main" val="2253900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4BC030DB-2258-4C4C-8A46-F7CDDAEBD116}" type="datetime1">
              <a:rPr lang="el-GR" smtClean="0"/>
              <a:t>24/01/2024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5D617892-D5B5-4468-B8C4-C6F28AD00A19}" type="slidenum">
              <a:rPr lang="el-GR" smtClean="0"/>
              <a:t>‹#›</a:t>
            </a:fld>
            <a:endParaRPr lang="el-GR"/>
          </a:p>
        </p:txBody>
      </p:sp>
    </p:spTree>
    <p:extLst>
      <p:ext uri="{BB962C8B-B14F-4D97-AF65-F5344CB8AC3E}">
        <p14:creationId xmlns:p14="http://schemas.microsoft.com/office/powerpoint/2010/main" val="3411620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l-G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1C631001-0894-4B48-87F4-36279B772FEA}" type="datetime1">
              <a:rPr lang="el-GR" smtClean="0"/>
              <a:t>24/01/2024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5D617892-D5B5-4468-B8C4-C6F28AD00A19}" type="slidenum">
              <a:rPr lang="el-GR" smtClean="0"/>
              <a:t>‹#›</a:t>
            </a:fld>
            <a:endParaRPr lang="el-GR"/>
          </a:p>
        </p:txBody>
      </p:sp>
    </p:spTree>
    <p:extLst>
      <p:ext uri="{BB962C8B-B14F-4D97-AF65-F5344CB8AC3E}">
        <p14:creationId xmlns:p14="http://schemas.microsoft.com/office/powerpoint/2010/main" val="2375976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l-G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8F7D53-6717-427C-84E2-D53D736C4866}" type="datetime1">
              <a:rPr lang="el-GR" smtClean="0"/>
              <a:t>24/01/2024</a:t>
            </a:fld>
            <a:endParaRPr lang="el-G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617892-D5B5-4468-B8C4-C6F28AD00A19}" type="slidenum">
              <a:rPr lang="el-GR" smtClean="0"/>
              <a:t>‹#›</a:t>
            </a:fld>
            <a:endParaRPr lang="el-GR"/>
          </a:p>
        </p:txBody>
      </p:sp>
    </p:spTree>
    <p:extLst>
      <p:ext uri="{BB962C8B-B14F-4D97-AF65-F5344CB8AC3E}">
        <p14:creationId xmlns:p14="http://schemas.microsoft.com/office/powerpoint/2010/main" val="28719811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 y="0"/>
            <a:ext cx="1729524" cy="1283195"/>
          </a:xfrm>
          <a:prstGeom prst="rect">
            <a:avLst/>
          </a:prstGeom>
        </p:spPr>
      </p:pic>
      <p:pic>
        <p:nvPicPr>
          <p:cNvPr id="5" name="Picture 4"/>
          <p:cNvPicPr>
            <a:picLocks noChangeAspect="1"/>
          </p:cNvPicPr>
          <p:nvPr/>
        </p:nvPicPr>
        <p:blipFill>
          <a:blip r:embed="rId3"/>
          <a:stretch>
            <a:fillRect/>
          </a:stretch>
        </p:blipFill>
        <p:spPr>
          <a:xfrm>
            <a:off x="9407462" y="0"/>
            <a:ext cx="2784538" cy="1560501"/>
          </a:xfrm>
          <a:prstGeom prst="rect">
            <a:avLst/>
          </a:prstGeom>
        </p:spPr>
      </p:pic>
      <p:sp>
        <p:nvSpPr>
          <p:cNvPr id="7" name="Rectangle 6"/>
          <p:cNvSpPr/>
          <p:nvPr/>
        </p:nvSpPr>
        <p:spPr>
          <a:xfrm>
            <a:off x="1512751" y="1560501"/>
            <a:ext cx="9330149" cy="4801314"/>
          </a:xfrm>
          <a:prstGeom prst="rect">
            <a:avLst/>
          </a:prstGeom>
        </p:spPr>
        <p:txBody>
          <a:bodyPr wrap="square">
            <a:spAutoFit/>
          </a:bodyPr>
          <a:lstStyle/>
          <a:p>
            <a:pPr algn="just"/>
            <a:r>
              <a:rPr lang="en-US" sz="3600" dirty="0"/>
              <a:t>        CLD6001:Contemporary Problem Analysis </a:t>
            </a:r>
          </a:p>
          <a:p>
            <a:pPr algn="just"/>
            <a:endParaRPr lang="en-US" sz="3600" b="1" dirty="0"/>
          </a:p>
          <a:p>
            <a:pPr algn="just"/>
            <a:r>
              <a:rPr lang="en-US" sz="3600" dirty="0"/>
              <a:t>        Title</a:t>
            </a:r>
            <a:r>
              <a:rPr lang="en-US" sz="3600" b="1" dirty="0"/>
              <a:t>:  Populating  Large  Databases  </a:t>
            </a:r>
          </a:p>
          <a:p>
            <a:pPr algn="just"/>
            <a:r>
              <a:rPr lang="en-US" sz="3600" b="1" dirty="0"/>
              <a:t>                     with  Realistic  Data.</a:t>
            </a:r>
          </a:p>
          <a:p>
            <a:pPr algn="just"/>
            <a:endParaRPr lang="en-US" sz="3600" b="1" dirty="0"/>
          </a:p>
          <a:p>
            <a:pPr algn="just"/>
            <a:r>
              <a:rPr lang="en-US" sz="3600" dirty="0"/>
              <a:t>                                     By</a:t>
            </a:r>
          </a:p>
          <a:p>
            <a:pPr algn="just"/>
            <a:r>
              <a:rPr lang="en-US" sz="3600" dirty="0"/>
              <a:t>        Supervisor: </a:t>
            </a:r>
            <a:r>
              <a:rPr lang="en-US" sz="3600" b="1" dirty="0" err="1"/>
              <a:t>Dr</a:t>
            </a:r>
            <a:r>
              <a:rPr lang="en-US" sz="3600" b="1" dirty="0"/>
              <a:t>  </a:t>
            </a:r>
            <a:r>
              <a:rPr lang="en-US" sz="3600" b="1" dirty="0" err="1"/>
              <a:t>Giorgos</a:t>
            </a:r>
            <a:r>
              <a:rPr lang="en-US" sz="3600" b="1" dirty="0"/>
              <a:t> </a:t>
            </a:r>
            <a:r>
              <a:rPr lang="en-US" sz="3600" b="1" dirty="0" err="1"/>
              <a:t>Prokopakis</a:t>
            </a:r>
            <a:endParaRPr lang="el-GR" sz="3600" dirty="0"/>
          </a:p>
          <a:p>
            <a:pPr algn="just"/>
            <a:r>
              <a:rPr lang="en-US" sz="3600" dirty="0"/>
              <a:t>        Student name: </a:t>
            </a:r>
            <a:r>
              <a:rPr lang="en-US" sz="3600" b="1" dirty="0" err="1"/>
              <a:t>Matthaios</a:t>
            </a:r>
            <a:r>
              <a:rPr lang="en-US" sz="3600" b="1" dirty="0"/>
              <a:t> </a:t>
            </a:r>
            <a:r>
              <a:rPr lang="en-US" sz="3600" b="1" dirty="0" err="1"/>
              <a:t>Chatzimichail</a:t>
            </a:r>
            <a:r>
              <a:rPr lang="en-US" sz="3600" b="1" dirty="0"/>
              <a:t> </a:t>
            </a:r>
            <a:endParaRPr lang="el-GR" sz="3600" dirty="0"/>
          </a:p>
          <a:p>
            <a:endParaRPr lang="el-GR" dirty="0"/>
          </a:p>
        </p:txBody>
      </p:sp>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1</a:t>
            </a:fld>
            <a:endParaRPr lang="el-GR" dirty="0">
              <a:solidFill>
                <a:schemeClr val="tx1"/>
              </a:solidFill>
            </a:endParaRPr>
          </a:p>
        </p:txBody>
      </p:sp>
    </p:spTree>
    <p:extLst>
      <p:ext uri="{BB962C8B-B14F-4D97-AF65-F5344CB8AC3E}">
        <p14:creationId xmlns:p14="http://schemas.microsoft.com/office/powerpoint/2010/main" val="2057416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 y="0"/>
            <a:ext cx="1729524" cy="1283195"/>
          </a:xfrm>
          <a:prstGeom prst="rect">
            <a:avLst/>
          </a:prstGeom>
        </p:spPr>
      </p:pic>
      <p:pic>
        <p:nvPicPr>
          <p:cNvPr id="5" name="Picture 4"/>
          <p:cNvPicPr>
            <a:picLocks noChangeAspect="1"/>
          </p:cNvPicPr>
          <p:nvPr/>
        </p:nvPicPr>
        <p:blipFill>
          <a:blip r:embed="rId3"/>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2</a:t>
            </a:fld>
            <a:endParaRPr lang="el-GR" dirty="0">
              <a:solidFill>
                <a:schemeClr val="tx1"/>
              </a:solidFill>
            </a:endParaRPr>
          </a:p>
        </p:txBody>
      </p:sp>
      <p:sp>
        <p:nvSpPr>
          <p:cNvPr id="6" name="Snip Single Corner Rectangle 5"/>
          <p:cNvSpPr/>
          <p:nvPr/>
        </p:nvSpPr>
        <p:spPr>
          <a:xfrm>
            <a:off x="2155130" y="1845269"/>
            <a:ext cx="8094699" cy="4226313"/>
          </a:xfrm>
          <a:prstGeom prst="snip1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600" dirty="0">
                <a:solidFill>
                  <a:sysClr val="windowText" lastClr="000000"/>
                </a:solidFill>
              </a:rPr>
              <a:t>Contents</a:t>
            </a:r>
          </a:p>
          <a:p>
            <a:pPr algn="just"/>
            <a:r>
              <a:rPr lang="en-US" sz="2400" dirty="0" smtClean="0">
                <a:solidFill>
                  <a:sysClr val="windowText" lastClr="000000"/>
                </a:solidFill>
              </a:rPr>
              <a:t>Contents.</a:t>
            </a:r>
          </a:p>
          <a:p>
            <a:pPr algn="just"/>
            <a:r>
              <a:rPr lang="en-US" sz="2400" dirty="0" smtClean="0">
                <a:solidFill>
                  <a:sysClr val="windowText" lastClr="000000"/>
                </a:solidFill>
              </a:rPr>
              <a:t>Project  Definition.</a:t>
            </a:r>
            <a:endParaRPr lang="en-US" sz="2400" dirty="0">
              <a:solidFill>
                <a:sysClr val="windowText" lastClr="000000"/>
              </a:solidFill>
            </a:endParaRPr>
          </a:p>
          <a:p>
            <a:pPr algn="just"/>
            <a:r>
              <a:rPr lang="en-US" sz="2400" dirty="0">
                <a:solidFill>
                  <a:sysClr val="windowText" lastClr="000000"/>
                </a:solidFill>
              </a:rPr>
              <a:t>Fake  Data  Generation</a:t>
            </a:r>
            <a:r>
              <a:rPr lang="en-US" sz="2400" dirty="0" smtClean="0">
                <a:solidFill>
                  <a:sysClr val="windowText" lastClr="000000"/>
                </a:solidFill>
              </a:rPr>
              <a:t>.</a:t>
            </a:r>
            <a:endParaRPr lang="en-US" sz="2400" dirty="0">
              <a:solidFill>
                <a:sysClr val="windowText" lastClr="000000"/>
              </a:solidFill>
            </a:endParaRPr>
          </a:p>
          <a:p>
            <a:pPr algn="just"/>
            <a:r>
              <a:rPr lang="en-US" sz="2400" dirty="0">
                <a:solidFill>
                  <a:sysClr val="windowText" lastClr="000000"/>
                </a:solidFill>
              </a:rPr>
              <a:t>Relational  Database  Systems.</a:t>
            </a:r>
          </a:p>
          <a:p>
            <a:pPr algn="just"/>
            <a:r>
              <a:rPr lang="en-US" sz="2400" dirty="0">
                <a:solidFill>
                  <a:sysClr val="windowText" lastClr="000000"/>
                </a:solidFill>
              </a:rPr>
              <a:t>The  Database  Schema.</a:t>
            </a:r>
          </a:p>
          <a:p>
            <a:pPr algn="just"/>
            <a:r>
              <a:rPr lang="en-US" sz="2400" dirty="0">
                <a:solidFill>
                  <a:sysClr val="windowText" lastClr="000000"/>
                </a:solidFill>
              </a:rPr>
              <a:t>Populating  the  Database.</a:t>
            </a:r>
          </a:p>
          <a:p>
            <a:pPr algn="just"/>
            <a:r>
              <a:rPr lang="en-US" sz="2400" dirty="0">
                <a:solidFill>
                  <a:sysClr val="windowText" lastClr="000000"/>
                </a:solidFill>
              </a:rPr>
              <a:t>The  Executed  Queries.</a:t>
            </a:r>
          </a:p>
          <a:p>
            <a:pPr algn="just"/>
            <a:r>
              <a:rPr lang="en-US" sz="2400" dirty="0">
                <a:solidFill>
                  <a:sysClr val="windowText" lastClr="000000"/>
                </a:solidFill>
              </a:rPr>
              <a:t>Conclusion.</a:t>
            </a:r>
          </a:p>
          <a:p>
            <a:pPr algn="just"/>
            <a:r>
              <a:rPr lang="en-US" sz="2400" dirty="0">
                <a:solidFill>
                  <a:sysClr val="windowText" lastClr="000000"/>
                </a:solidFill>
              </a:rPr>
              <a:t>References. </a:t>
            </a:r>
          </a:p>
        </p:txBody>
      </p:sp>
    </p:spTree>
    <p:extLst>
      <p:ext uri="{BB962C8B-B14F-4D97-AF65-F5344CB8AC3E}">
        <p14:creationId xmlns:p14="http://schemas.microsoft.com/office/powerpoint/2010/main" val="919110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3</a:t>
            </a:fld>
            <a:endParaRPr lang="el-GR" dirty="0">
              <a:solidFill>
                <a:schemeClr val="tx1"/>
              </a:solidFill>
            </a:endParaRPr>
          </a:p>
        </p:txBody>
      </p:sp>
      <p:sp>
        <p:nvSpPr>
          <p:cNvPr id="7" name="Rounded Rectangle 6"/>
          <p:cNvSpPr/>
          <p:nvPr/>
        </p:nvSpPr>
        <p:spPr>
          <a:xfrm>
            <a:off x="492512" y="1984917"/>
            <a:ext cx="11206976" cy="4047894"/>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a:buFontTx/>
              <a:buChar char="-"/>
            </a:pPr>
            <a:r>
              <a:rPr lang="en-US" sz="2400" dirty="0" smtClean="0">
                <a:solidFill>
                  <a:schemeClr val="tx1"/>
                </a:solidFill>
              </a:rPr>
              <a:t> The  </a:t>
            </a:r>
            <a:r>
              <a:rPr lang="en-US" sz="2400" dirty="0">
                <a:solidFill>
                  <a:schemeClr val="tx1"/>
                </a:solidFill>
              </a:rPr>
              <a:t>problem  that  had  to  be  analyzed  and  </a:t>
            </a:r>
            <a:r>
              <a:rPr lang="en-US" sz="2400" dirty="0" smtClean="0">
                <a:solidFill>
                  <a:schemeClr val="tx1"/>
                </a:solidFill>
              </a:rPr>
              <a:t>solved  for  this  project  </a:t>
            </a:r>
            <a:r>
              <a:rPr lang="en-US" sz="2400" dirty="0">
                <a:solidFill>
                  <a:schemeClr val="tx1"/>
                </a:solidFill>
              </a:rPr>
              <a:t>was  the  issue  of  populating  large  databases  with  realistic  data</a:t>
            </a:r>
            <a:r>
              <a:rPr lang="en-US" sz="2400" dirty="0" smtClean="0">
                <a:solidFill>
                  <a:schemeClr val="tx1"/>
                </a:solidFill>
              </a:rPr>
              <a:t>.</a:t>
            </a:r>
          </a:p>
          <a:p>
            <a:pPr marL="342900" indent="-342900" algn="just">
              <a:buFontTx/>
              <a:buChar char="-"/>
            </a:pPr>
            <a:r>
              <a:rPr lang="en-US" sz="2400" dirty="0" smtClean="0">
                <a:solidFill>
                  <a:schemeClr val="tx1"/>
                </a:solidFill>
              </a:rPr>
              <a:t> Populating  </a:t>
            </a:r>
            <a:r>
              <a:rPr lang="en-US" sz="2400" dirty="0">
                <a:solidFill>
                  <a:schemeClr val="tx1"/>
                </a:solidFill>
              </a:rPr>
              <a:t>the  database  with  a  large  amount  of  realistic  data  can  be  an  integral  action  in  our  quest  of  identifying  potential  problems  with  the  design  of  the  database  and  testing  the  database’s  </a:t>
            </a:r>
            <a:r>
              <a:rPr lang="en-US" sz="2400" dirty="0" smtClean="0">
                <a:solidFill>
                  <a:schemeClr val="tx1"/>
                </a:solidFill>
              </a:rPr>
              <a:t>functionality.</a:t>
            </a:r>
          </a:p>
          <a:p>
            <a:pPr marL="342900" indent="-342900" algn="just">
              <a:buFontTx/>
              <a:buChar char="-"/>
            </a:pPr>
            <a:r>
              <a:rPr lang="en-US" sz="2400" dirty="0" smtClean="0">
                <a:solidFill>
                  <a:schemeClr val="tx1"/>
                </a:solidFill>
              </a:rPr>
              <a:t> The  </a:t>
            </a:r>
            <a:r>
              <a:rPr lang="en-US" sz="2400" dirty="0">
                <a:solidFill>
                  <a:schemeClr val="tx1"/>
                </a:solidFill>
              </a:rPr>
              <a:t>solution  will  consist  of  a  database  that  will  be  designed  and  implemented  to  serve  a  large  scale  online  store,  platform  and  it  will  be  populated  efficiently  with  realistic  fake  data. </a:t>
            </a:r>
            <a:r>
              <a:rPr lang="en-US" sz="2400" dirty="0" smtClean="0">
                <a:solidFill>
                  <a:schemeClr val="tx1"/>
                </a:solidFill>
              </a:rPr>
              <a:t>  </a:t>
            </a:r>
            <a:endParaRPr lang="el-GR" sz="2400" dirty="0">
              <a:solidFill>
                <a:schemeClr val="tx1"/>
              </a:solidFill>
            </a:endParaRPr>
          </a:p>
          <a:p>
            <a:pPr algn="ctr"/>
            <a:endParaRPr lang="en-US" dirty="0"/>
          </a:p>
        </p:txBody>
      </p:sp>
      <p:sp>
        <p:nvSpPr>
          <p:cNvPr id="20" name="Double Wave 19"/>
          <p:cNvSpPr/>
          <p:nvPr/>
        </p:nvSpPr>
        <p:spPr>
          <a:xfrm>
            <a:off x="492511" y="500061"/>
            <a:ext cx="5774473"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rPr>
              <a:t>Project  Definition.</a:t>
            </a:r>
            <a:endParaRPr lang="el-GR" sz="3600" dirty="0">
              <a:solidFill>
                <a:schemeClr val="tx1"/>
              </a:solidFill>
            </a:endParaRPr>
          </a:p>
        </p:txBody>
      </p:sp>
    </p:spTree>
    <p:extLst>
      <p:ext uri="{BB962C8B-B14F-4D97-AF65-F5344CB8AC3E}">
        <p14:creationId xmlns:p14="http://schemas.microsoft.com/office/powerpoint/2010/main" val="977576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4</a:t>
            </a:fld>
            <a:endParaRPr lang="el-GR" dirty="0">
              <a:solidFill>
                <a:schemeClr val="tx1"/>
              </a:solidFill>
            </a:endParaRPr>
          </a:p>
        </p:txBody>
      </p:sp>
      <p:sp>
        <p:nvSpPr>
          <p:cNvPr id="7" name="Rounded Rectangle 6"/>
          <p:cNvSpPr/>
          <p:nvPr/>
        </p:nvSpPr>
        <p:spPr>
          <a:xfrm>
            <a:off x="492512" y="1984917"/>
            <a:ext cx="11206976" cy="4047894"/>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a:solidFill>
                  <a:schemeClr val="tx1"/>
                </a:solidFill>
              </a:rPr>
              <a:t>-</a:t>
            </a:r>
            <a:r>
              <a:rPr lang="en-US" sz="2400" dirty="0"/>
              <a:t>    </a:t>
            </a:r>
            <a:r>
              <a:rPr lang="en-US" sz="2400" dirty="0">
                <a:solidFill>
                  <a:schemeClr val="tx1"/>
                </a:solidFill>
              </a:rPr>
              <a:t>Synthetic  or  fake  data  is  information  that  is  produced  artificially  or  through simulation  as  opposed  to  coming  from  real-world  occurrences.</a:t>
            </a:r>
          </a:p>
          <a:p>
            <a:pPr marL="342900" indent="-342900" algn="just">
              <a:buFontTx/>
              <a:buChar char="-"/>
            </a:pPr>
            <a:r>
              <a:rPr lang="en-US" sz="2400" dirty="0" smtClean="0">
                <a:solidFill>
                  <a:schemeClr val="tx1"/>
                </a:solidFill>
              </a:rPr>
              <a:t> The  </a:t>
            </a:r>
            <a:r>
              <a:rPr lang="en-US" sz="2400" dirty="0">
                <a:solidFill>
                  <a:schemeClr val="tx1"/>
                </a:solidFill>
              </a:rPr>
              <a:t>statistical characteristics  of  the  original  dataset  are  mirrored  in  a  synthetic  dataset  by  modeling  it  after  real  data.</a:t>
            </a:r>
          </a:p>
          <a:p>
            <a:pPr marL="457200" indent="-457200" algn="just">
              <a:buFontTx/>
              <a:buChar char="-"/>
            </a:pPr>
            <a:r>
              <a:rPr lang="en-US" sz="2400" dirty="0">
                <a:solidFill>
                  <a:schemeClr val="tx1"/>
                </a:solidFill>
              </a:rPr>
              <a:t>The  use  of  fake  data  produces  more  effectively  accessible  datasets.</a:t>
            </a:r>
          </a:p>
          <a:p>
            <a:pPr marL="457200" indent="-457200" algn="just">
              <a:buFontTx/>
              <a:buChar char="-"/>
            </a:pPr>
            <a:r>
              <a:rPr lang="en-US" sz="2400" dirty="0">
                <a:solidFill>
                  <a:schemeClr val="tx1"/>
                </a:solidFill>
              </a:rPr>
              <a:t>Synthetic  datasets  do  not  classify  as  identifiable  personal  information. </a:t>
            </a:r>
          </a:p>
          <a:p>
            <a:pPr marL="457200" indent="-457200" algn="just">
              <a:buFontTx/>
              <a:buChar char="-"/>
            </a:pPr>
            <a:r>
              <a:rPr lang="en-US" sz="2400" dirty="0">
                <a:solidFill>
                  <a:schemeClr val="tx1"/>
                </a:solidFill>
              </a:rPr>
              <a:t>Therefore,  individual consent  would  not  be  required  to  use  these  datasets  for  different  purposes  in  contrast  with  authentic  datasets.</a:t>
            </a:r>
            <a:endParaRPr lang="el-GR" sz="2400" dirty="0">
              <a:solidFill>
                <a:schemeClr val="tx1"/>
              </a:solidFill>
            </a:endParaRPr>
          </a:p>
          <a:p>
            <a:pPr algn="just"/>
            <a:r>
              <a:rPr lang="en-US" sz="2400" dirty="0">
                <a:solidFill>
                  <a:schemeClr val="tx1"/>
                </a:solidFill>
              </a:rPr>
              <a:t> </a:t>
            </a:r>
            <a:endParaRPr lang="el-GR" sz="2400" dirty="0">
              <a:solidFill>
                <a:schemeClr val="tx1"/>
              </a:solidFill>
            </a:endParaRPr>
          </a:p>
          <a:p>
            <a:pPr algn="ctr"/>
            <a:endParaRPr lang="en-US" dirty="0"/>
          </a:p>
        </p:txBody>
      </p:sp>
      <p:sp>
        <p:nvSpPr>
          <p:cNvPr id="20" name="Double Wave 19"/>
          <p:cNvSpPr/>
          <p:nvPr/>
        </p:nvSpPr>
        <p:spPr>
          <a:xfrm>
            <a:off x="492511" y="500061"/>
            <a:ext cx="5774473"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Fake  Data  Generation.</a:t>
            </a:r>
            <a:endParaRPr lang="el-GR" sz="3600" dirty="0">
              <a:solidFill>
                <a:schemeClr val="tx1"/>
              </a:solidFill>
            </a:endParaRPr>
          </a:p>
        </p:txBody>
      </p:sp>
    </p:spTree>
    <p:extLst>
      <p:ext uri="{BB962C8B-B14F-4D97-AF65-F5344CB8AC3E}">
        <p14:creationId xmlns:p14="http://schemas.microsoft.com/office/powerpoint/2010/main" val="3238781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5</a:t>
            </a:fld>
            <a:endParaRPr lang="el-GR" dirty="0">
              <a:solidFill>
                <a:schemeClr val="tx1"/>
              </a:solidFill>
            </a:endParaRPr>
          </a:p>
        </p:txBody>
      </p:sp>
      <p:sp>
        <p:nvSpPr>
          <p:cNvPr id="7" name="Rounded Rectangle 6"/>
          <p:cNvSpPr/>
          <p:nvPr/>
        </p:nvSpPr>
        <p:spPr>
          <a:xfrm>
            <a:off x="624468" y="2185639"/>
            <a:ext cx="10729332" cy="3880624"/>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smtClean="0">
                <a:solidFill>
                  <a:schemeClr val="tx1"/>
                </a:solidFill>
              </a:rPr>
              <a:t>- The  </a:t>
            </a:r>
            <a:r>
              <a:rPr lang="en-US" sz="2400" dirty="0">
                <a:solidFill>
                  <a:schemeClr val="tx1"/>
                </a:solidFill>
              </a:rPr>
              <a:t>database  is  a  single,  potentially  sizable  data  repository  that  numerous departments  and  users  can  access  at  once.</a:t>
            </a:r>
          </a:p>
          <a:p>
            <a:pPr marL="457200" indent="-457200" algn="just">
              <a:buFontTx/>
              <a:buChar char="-"/>
            </a:pPr>
            <a:r>
              <a:rPr lang="en-US" sz="2400" dirty="0" smtClean="0">
                <a:solidFill>
                  <a:schemeClr val="tx1"/>
                </a:solidFill>
              </a:rPr>
              <a:t> The  </a:t>
            </a:r>
            <a:r>
              <a:rPr lang="en-US" sz="2400" dirty="0">
                <a:solidFill>
                  <a:schemeClr val="tx1"/>
                </a:solidFill>
              </a:rPr>
              <a:t>Database  represents  the  logical  relationships  between  entities,  and  their  attributes.</a:t>
            </a:r>
          </a:p>
          <a:p>
            <a:pPr marL="457200" indent="-457200" algn="just">
              <a:buFontTx/>
              <a:buChar char="-"/>
            </a:pPr>
            <a:r>
              <a:rPr lang="en-US" sz="2400" dirty="0" smtClean="0">
                <a:solidFill>
                  <a:schemeClr val="tx1"/>
                </a:solidFill>
              </a:rPr>
              <a:t> A  </a:t>
            </a:r>
            <a:r>
              <a:rPr lang="en-US" sz="2400" dirty="0">
                <a:solidFill>
                  <a:schemeClr val="tx1"/>
                </a:solidFill>
              </a:rPr>
              <a:t>database's  contents  must  be  accurate,  comprehensive,  and  arranged  so  that they  can  be  retrieved  in  the  desired  format  and  at  the  appropriate  time. </a:t>
            </a:r>
            <a:endParaRPr lang="en-US" sz="4000"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Relational  Database  Systems.</a:t>
            </a:r>
            <a:endParaRPr lang="el-GR" sz="3600" dirty="0">
              <a:solidFill>
                <a:schemeClr val="tx1"/>
              </a:solidFill>
            </a:endParaRPr>
          </a:p>
        </p:txBody>
      </p:sp>
    </p:spTree>
    <p:extLst>
      <p:ext uri="{BB962C8B-B14F-4D97-AF65-F5344CB8AC3E}">
        <p14:creationId xmlns:p14="http://schemas.microsoft.com/office/powerpoint/2010/main" val="904707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6</a:t>
            </a:fld>
            <a:endParaRPr lang="el-GR" dirty="0">
              <a:solidFill>
                <a:schemeClr val="tx1"/>
              </a:solidFill>
            </a:endParaRPr>
          </a:p>
        </p:txBody>
      </p:sp>
      <p:sp>
        <p:nvSpPr>
          <p:cNvPr id="7" name="Rounded Rectangle 6"/>
          <p:cNvSpPr/>
          <p:nvPr/>
        </p:nvSpPr>
        <p:spPr>
          <a:xfrm>
            <a:off x="702526" y="2196790"/>
            <a:ext cx="10996961" cy="3958683"/>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just">
              <a:buFontTx/>
              <a:buChar char="-"/>
            </a:pPr>
            <a:r>
              <a:rPr lang="en-US" sz="2400" dirty="0" smtClean="0">
                <a:solidFill>
                  <a:schemeClr val="tx1"/>
                </a:solidFill>
              </a:rPr>
              <a:t> An  </a:t>
            </a:r>
            <a:r>
              <a:rPr lang="en-US" sz="2400" dirty="0">
                <a:solidFill>
                  <a:schemeClr val="tx1"/>
                </a:solidFill>
              </a:rPr>
              <a:t>entity  is  an  object  within  the  database,  </a:t>
            </a:r>
            <a:r>
              <a:rPr lang="en-US" sz="2400" dirty="0" smtClean="0">
                <a:solidFill>
                  <a:schemeClr val="tx1"/>
                </a:solidFill>
              </a:rPr>
              <a:t>that  </a:t>
            </a:r>
            <a:r>
              <a:rPr lang="en-US" sz="2400" dirty="0" smtClean="0">
                <a:solidFill>
                  <a:schemeClr val="tx1"/>
                </a:solidFill>
              </a:rPr>
              <a:t>can  </a:t>
            </a:r>
            <a:r>
              <a:rPr lang="en-US" sz="2400" dirty="0" smtClean="0">
                <a:solidFill>
                  <a:schemeClr val="tx1"/>
                </a:solidFill>
              </a:rPr>
              <a:t>store  data, </a:t>
            </a:r>
            <a:r>
              <a:rPr lang="en-US" sz="2400" dirty="0">
                <a:solidFill>
                  <a:schemeClr val="tx1"/>
                </a:solidFill>
              </a:rPr>
              <a:t>and  usually  refers  to  a  table  that  contains  attributes.</a:t>
            </a:r>
          </a:p>
          <a:p>
            <a:pPr marL="457200" indent="-457200" algn="just">
              <a:buFontTx/>
              <a:buChar char="-"/>
            </a:pPr>
            <a:r>
              <a:rPr lang="en-US" sz="2400" dirty="0" smtClean="0">
                <a:solidFill>
                  <a:schemeClr val="tx1"/>
                </a:solidFill>
              </a:rPr>
              <a:t> A  </a:t>
            </a:r>
            <a:r>
              <a:rPr lang="en-US" sz="2400" dirty="0">
                <a:solidFill>
                  <a:schemeClr val="tx1"/>
                </a:solidFill>
              </a:rPr>
              <a:t>property that  characterizes  an  aspect  of  the  object  that  we  want  to  document  is  called  an  attribute.</a:t>
            </a:r>
          </a:p>
          <a:p>
            <a:pPr marL="457200" indent="-457200" algn="just">
              <a:buFontTx/>
              <a:buChar char="-"/>
            </a:pPr>
            <a:r>
              <a:rPr lang="en-US" sz="2400" dirty="0" smtClean="0">
                <a:solidFill>
                  <a:schemeClr val="tx1"/>
                </a:solidFill>
              </a:rPr>
              <a:t> A  </a:t>
            </a:r>
            <a:r>
              <a:rPr lang="en-US" sz="2400" dirty="0">
                <a:solidFill>
                  <a:schemeClr val="tx1"/>
                </a:solidFill>
              </a:rPr>
              <a:t>relationship  is  the  connection  between  two  entities.</a:t>
            </a:r>
          </a:p>
          <a:p>
            <a:pPr marL="457200" indent="-457200" algn="just">
              <a:buFontTx/>
              <a:buChar char="-"/>
            </a:pPr>
            <a:r>
              <a:rPr lang="en-US" sz="2400" dirty="0" smtClean="0">
                <a:solidFill>
                  <a:schemeClr val="tx1"/>
                </a:solidFill>
              </a:rPr>
              <a:t> The  </a:t>
            </a:r>
            <a:r>
              <a:rPr lang="en-US" sz="2400" dirty="0">
                <a:solidFill>
                  <a:schemeClr val="tx1"/>
                </a:solidFill>
              </a:rPr>
              <a:t>basis  for  all  database  systems  is  the  relationships  between  elements  in  the  database  environment.</a:t>
            </a:r>
            <a:endParaRPr lang="en-US" sz="8800"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Relational  Database  Systems.</a:t>
            </a:r>
            <a:endParaRPr lang="el-GR" sz="3600" dirty="0">
              <a:solidFill>
                <a:schemeClr val="tx1"/>
              </a:solidFill>
            </a:endParaRPr>
          </a:p>
        </p:txBody>
      </p:sp>
    </p:spTree>
    <p:extLst>
      <p:ext uri="{BB962C8B-B14F-4D97-AF65-F5344CB8AC3E}">
        <p14:creationId xmlns:p14="http://schemas.microsoft.com/office/powerpoint/2010/main" val="2275858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7</a:t>
            </a:fld>
            <a:endParaRPr lang="el-GR" dirty="0">
              <a:solidFill>
                <a:schemeClr val="tx1"/>
              </a:solidFill>
            </a:endParaRPr>
          </a:p>
        </p:txBody>
      </p:sp>
      <p:sp>
        <p:nvSpPr>
          <p:cNvPr id="7" name="Rounded Rectangle 6"/>
          <p:cNvSpPr/>
          <p:nvPr/>
        </p:nvSpPr>
        <p:spPr>
          <a:xfrm>
            <a:off x="624468" y="2152185"/>
            <a:ext cx="11075020" cy="4003288"/>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just">
              <a:buFontTx/>
              <a:buChar char="-"/>
            </a:pPr>
            <a:r>
              <a:rPr lang="en-US" sz="2400" dirty="0" smtClean="0">
                <a:solidFill>
                  <a:schemeClr val="tx1"/>
                </a:solidFill>
              </a:rPr>
              <a:t> The  </a:t>
            </a:r>
            <a:r>
              <a:rPr lang="en-US" sz="2400" dirty="0">
                <a:solidFill>
                  <a:schemeClr val="tx1"/>
                </a:solidFill>
              </a:rPr>
              <a:t>design  of  the  database  schema  is  the  most  vital  component  of  every  functional  database.</a:t>
            </a:r>
          </a:p>
          <a:p>
            <a:pPr marL="457200" indent="-457200" algn="just">
              <a:buFontTx/>
              <a:buChar char="-"/>
            </a:pPr>
            <a:r>
              <a:rPr lang="en-US" sz="2400" dirty="0" smtClean="0">
                <a:solidFill>
                  <a:schemeClr val="tx1"/>
                </a:solidFill>
              </a:rPr>
              <a:t> The  </a:t>
            </a:r>
            <a:r>
              <a:rPr lang="en-US" sz="2400" dirty="0">
                <a:solidFill>
                  <a:schemeClr val="tx1"/>
                </a:solidFill>
              </a:rPr>
              <a:t>schema  for  this  project  is  designed  to  emulate  the  structure  of  an  online  store  platform’s  database.</a:t>
            </a:r>
          </a:p>
          <a:p>
            <a:pPr marL="457200" indent="-457200" algn="just">
              <a:buFontTx/>
              <a:buChar char="-"/>
            </a:pPr>
            <a:r>
              <a:rPr lang="en-US" sz="2400" dirty="0" smtClean="0">
                <a:solidFill>
                  <a:schemeClr val="tx1"/>
                </a:solidFill>
              </a:rPr>
              <a:t> Although  </a:t>
            </a:r>
            <a:r>
              <a:rPr lang="en-US" sz="2400" dirty="0">
                <a:solidFill>
                  <a:schemeClr val="tx1"/>
                </a:solidFill>
              </a:rPr>
              <a:t>the  database’s  size  of  such  a  platform  will  be  considerably  larger,  the  schema  designed  for  this  project  can  serve  as  a  solid  base  for  an  online  store  database.</a:t>
            </a:r>
          </a:p>
          <a:p>
            <a:pPr marL="457200" indent="-457200" algn="just">
              <a:buFontTx/>
              <a:buChar char="-"/>
            </a:pPr>
            <a:r>
              <a:rPr lang="en-US" sz="2400" dirty="0" smtClean="0">
                <a:solidFill>
                  <a:schemeClr val="tx1"/>
                </a:solidFill>
              </a:rPr>
              <a:t> The  </a:t>
            </a:r>
            <a:r>
              <a:rPr lang="en-US" sz="2400" dirty="0">
                <a:solidFill>
                  <a:schemeClr val="tx1"/>
                </a:solidFill>
              </a:rPr>
              <a:t>schema  for  this  online  store  platform  was  constructed  in  MySQL  Workbench </a:t>
            </a:r>
            <a:endParaRPr lang="en-US" sz="7200"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Database  Schema. </a:t>
            </a:r>
            <a:endParaRPr lang="el-GR" sz="3600" dirty="0">
              <a:solidFill>
                <a:schemeClr val="tx1"/>
              </a:solidFill>
            </a:endParaRPr>
          </a:p>
        </p:txBody>
      </p:sp>
    </p:spTree>
    <p:extLst>
      <p:ext uri="{BB962C8B-B14F-4D97-AF65-F5344CB8AC3E}">
        <p14:creationId xmlns:p14="http://schemas.microsoft.com/office/powerpoint/2010/main" val="1712780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8</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Database  Schema. </a:t>
            </a:r>
            <a:endParaRPr lang="el-GR" sz="3600" dirty="0">
              <a:solidFill>
                <a:schemeClr val="tx1"/>
              </a:solidFill>
            </a:endParaRPr>
          </a:p>
        </p:txBody>
      </p:sp>
      <p:pic>
        <p:nvPicPr>
          <p:cNvPr id="2" name="Picture 1"/>
          <p:cNvPicPr>
            <a:picLocks noChangeAspect="1"/>
          </p:cNvPicPr>
          <p:nvPr/>
        </p:nvPicPr>
        <p:blipFill>
          <a:blip r:embed="rId3"/>
          <a:stretch>
            <a:fillRect/>
          </a:stretch>
        </p:blipFill>
        <p:spPr>
          <a:xfrm>
            <a:off x="366905" y="2559098"/>
            <a:ext cx="6259859" cy="2057507"/>
          </a:xfrm>
          <a:prstGeom prst="rect">
            <a:avLst/>
          </a:prstGeom>
          <a:ln w="88900" cap="sq" cmpd="thickThin">
            <a:solidFill>
              <a:srgbClr val="000000"/>
            </a:solidFill>
            <a:prstDash val="solid"/>
            <a:miter lim="800000"/>
          </a:ln>
          <a:effectLst>
            <a:innerShdw blurRad="76200">
              <a:srgbClr val="000000"/>
            </a:innerShdw>
          </a:effectLst>
        </p:spPr>
      </p:pic>
      <p:sp>
        <p:nvSpPr>
          <p:cNvPr id="6" name="Rectangle 5"/>
          <p:cNvSpPr/>
          <p:nvPr/>
        </p:nvSpPr>
        <p:spPr>
          <a:xfrm>
            <a:off x="7037124" y="1981741"/>
            <a:ext cx="4740676" cy="348235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The  </a:t>
            </a:r>
            <a:r>
              <a:rPr lang="en-US" sz="2400" dirty="0">
                <a:solidFill>
                  <a:schemeClr val="tx1"/>
                </a:solidFill>
              </a:rPr>
              <a:t>first  functionality  offered  by  the  system  in  this  case  is  the  ability  of  the  user  to  select  products  based  on  the  brand  and/or  category  they  are  in  and  also  view  all  the  products  in  a  specific  category  or  brand.</a:t>
            </a:r>
          </a:p>
        </p:txBody>
      </p:sp>
    </p:spTree>
    <p:extLst>
      <p:ext uri="{BB962C8B-B14F-4D97-AF65-F5344CB8AC3E}">
        <p14:creationId xmlns:p14="http://schemas.microsoft.com/office/powerpoint/2010/main" val="167397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9</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Database  Schema. </a:t>
            </a:r>
            <a:endParaRPr lang="el-GR" sz="3600" dirty="0">
              <a:solidFill>
                <a:schemeClr val="tx1"/>
              </a:solidFill>
            </a:endParaRPr>
          </a:p>
        </p:txBody>
      </p:sp>
      <p:pic>
        <p:nvPicPr>
          <p:cNvPr id="3" name="Picture 2"/>
          <p:cNvPicPr>
            <a:picLocks noChangeAspect="1"/>
          </p:cNvPicPr>
          <p:nvPr/>
        </p:nvPicPr>
        <p:blipFill>
          <a:blip r:embed="rId3"/>
          <a:stretch>
            <a:fillRect/>
          </a:stretch>
        </p:blipFill>
        <p:spPr>
          <a:xfrm>
            <a:off x="461832" y="2152185"/>
            <a:ext cx="5805152" cy="4386727"/>
          </a:xfrm>
          <a:prstGeom prst="rect">
            <a:avLst/>
          </a:prstGeom>
          <a:ln w="88900" cap="sq" cmpd="thickThin">
            <a:solidFill>
              <a:srgbClr val="000000"/>
            </a:solidFill>
            <a:prstDash val="solid"/>
            <a:miter lim="800000"/>
          </a:ln>
          <a:effectLst>
            <a:innerShdw blurRad="76200">
              <a:srgbClr val="000000"/>
            </a:innerShdw>
          </a:effectLst>
        </p:spPr>
      </p:pic>
      <p:sp>
        <p:nvSpPr>
          <p:cNvPr id="7" name="Rectangle 6"/>
          <p:cNvSpPr/>
          <p:nvPr/>
        </p:nvSpPr>
        <p:spPr>
          <a:xfrm>
            <a:off x="6829672" y="1825624"/>
            <a:ext cx="5155580" cy="453072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The  </a:t>
            </a:r>
            <a:r>
              <a:rPr lang="en-US" sz="2400" dirty="0">
                <a:solidFill>
                  <a:schemeClr val="tx1"/>
                </a:solidFill>
              </a:rPr>
              <a:t>second  functionality  offered  by  the  system  based  on  this  part  of  the  schema  is  the  ability  to  select  a  product  based  on  a  specific  version  of  it  or  based  on  one  or  more  characteristics  more  specifically.  Furthermore,  the  user  can  also  view  all  the  products  that  share  the  same  one  or  more  characteristics.  Additionally,  the  user  is  able  to  make  a  comment  on  a  specific  version  of  a  product. </a:t>
            </a:r>
          </a:p>
        </p:txBody>
      </p:sp>
    </p:spTree>
    <p:extLst>
      <p:ext uri="{BB962C8B-B14F-4D97-AF65-F5344CB8AC3E}">
        <p14:creationId xmlns:p14="http://schemas.microsoft.com/office/powerpoint/2010/main" val="205047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10</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Database  Schema. </a:t>
            </a:r>
            <a:endParaRPr lang="el-GR" sz="3600" dirty="0">
              <a:solidFill>
                <a:schemeClr val="tx1"/>
              </a:solidFill>
            </a:endParaRPr>
          </a:p>
        </p:txBody>
      </p:sp>
      <p:pic>
        <p:nvPicPr>
          <p:cNvPr id="4" name="Picture 3"/>
          <p:cNvPicPr>
            <a:picLocks noChangeAspect="1"/>
          </p:cNvPicPr>
          <p:nvPr/>
        </p:nvPicPr>
        <p:blipFill>
          <a:blip r:embed="rId3"/>
          <a:stretch>
            <a:fillRect/>
          </a:stretch>
        </p:blipFill>
        <p:spPr>
          <a:xfrm>
            <a:off x="492511" y="2076587"/>
            <a:ext cx="4899572" cy="4279763"/>
          </a:xfrm>
          <a:prstGeom prst="rect">
            <a:avLst/>
          </a:prstGeom>
          <a:ln w="88900" cap="sq" cmpd="thickThin">
            <a:solidFill>
              <a:srgbClr val="000000"/>
            </a:solidFill>
            <a:prstDash val="solid"/>
            <a:miter lim="800000"/>
          </a:ln>
          <a:effectLst>
            <a:innerShdw blurRad="76200">
              <a:srgbClr val="000000"/>
            </a:innerShdw>
          </a:effectLst>
        </p:spPr>
      </p:pic>
      <p:sp>
        <p:nvSpPr>
          <p:cNvPr id="7" name="Rectangle 6"/>
          <p:cNvSpPr/>
          <p:nvPr/>
        </p:nvSpPr>
        <p:spPr>
          <a:xfrm>
            <a:off x="6980662" y="2174488"/>
            <a:ext cx="4415883" cy="380256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The  </a:t>
            </a:r>
            <a:r>
              <a:rPr lang="en-US" sz="2400" dirty="0">
                <a:solidFill>
                  <a:schemeClr val="tx1"/>
                </a:solidFill>
              </a:rPr>
              <a:t>third  functionality  offered  by  the  system  from  this  part  of  the  schema  is  the  ability  to  view  the  products  of  each  shop  as  well  as  the  price  set  by  the  shop  to  each  product,  furthermore  the  user  can  make  a  comment  on  a  specific  shop.</a:t>
            </a:r>
          </a:p>
        </p:txBody>
      </p:sp>
    </p:spTree>
    <p:extLst>
      <p:ext uri="{BB962C8B-B14F-4D97-AF65-F5344CB8AC3E}">
        <p14:creationId xmlns:p14="http://schemas.microsoft.com/office/powerpoint/2010/main" val="4191592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11</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Database  Schema. </a:t>
            </a:r>
            <a:endParaRPr lang="el-GR" sz="3600" dirty="0">
              <a:solidFill>
                <a:schemeClr val="tx1"/>
              </a:solidFill>
            </a:endParaRPr>
          </a:p>
        </p:txBody>
      </p:sp>
      <p:pic>
        <p:nvPicPr>
          <p:cNvPr id="2" name="Picture 1"/>
          <p:cNvPicPr>
            <a:picLocks noChangeAspect="1"/>
          </p:cNvPicPr>
          <p:nvPr/>
        </p:nvPicPr>
        <p:blipFill>
          <a:blip r:embed="rId3"/>
          <a:stretch>
            <a:fillRect/>
          </a:stretch>
        </p:blipFill>
        <p:spPr>
          <a:xfrm>
            <a:off x="814039" y="2001595"/>
            <a:ext cx="4694663" cy="4485484"/>
          </a:xfrm>
          <a:prstGeom prst="rect">
            <a:avLst/>
          </a:prstGeom>
          <a:ln w="88900" cap="sq" cmpd="thickThin">
            <a:solidFill>
              <a:srgbClr val="000000"/>
            </a:solidFill>
            <a:prstDash val="solid"/>
            <a:miter lim="800000"/>
          </a:ln>
          <a:effectLst>
            <a:innerShdw blurRad="76200">
              <a:srgbClr val="000000"/>
            </a:innerShdw>
          </a:effectLst>
        </p:spPr>
      </p:pic>
      <p:sp>
        <p:nvSpPr>
          <p:cNvPr id="6" name="Rectangle 5"/>
          <p:cNvSpPr/>
          <p:nvPr/>
        </p:nvSpPr>
        <p:spPr>
          <a:xfrm>
            <a:off x="6746486" y="2079445"/>
            <a:ext cx="4917689" cy="3757961"/>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The  </a:t>
            </a:r>
            <a:r>
              <a:rPr lang="en-US" sz="2400" dirty="0">
                <a:solidFill>
                  <a:schemeClr val="tx1"/>
                </a:solidFill>
              </a:rPr>
              <a:t>final  functionality  offered  by  the  system  regarding  the  orders  of  the  customers  is  the  ability  to  view  the  order’s  information  regarding  the  shop,  the  customer,  and  also  the  products  of  the  order.</a:t>
            </a:r>
          </a:p>
        </p:txBody>
      </p:sp>
    </p:spTree>
    <p:extLst>
      <p:ext uri="{BB962C8B-B14F-4D97-AF65-F5344CB8AC3E}">
        <p14:creationId xmlns:p14="http://schemas.microsoft.com/office/powerpoint/2010/main" val="108175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12</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Populating  The  Database. </a:t>
            </a:r>
            <a:endParaRPr lang="el-GR" sz="3600" dirty="0">
              <a:solidFill>
                <a:schemeClr val="tx1"/>
              </a:solidFill>
            </a:endParaRPr>
          </a:p>
        </p:txBody>
      </p:sp>
      <p:pic>
        <p:nvPicPr>
          <p:cNvPr id="4" name="Picture 3"/>
          <p:cNvPicPr>
            <a:picLocks noChangeAspect="1"/>
          </p:cNvPicPr>
          <p:nvPr/>
        </p:nvPicPr>
        <p:blipFill>
          <a:blip r:embed="rId3"/>
          <a:stretch>
            <a:fillRect/>
          </a:stretch>
        </p:blipFill>
        <p:spPr>
          <a:xfrm>
            <a:off x="1058195" y="2179967"/>
            <a:ext cx="3647620" cy="4421453"/>
          </a:xfrm>
          <a:prstGeom prst="rect">
            <a:avLst/>
          </a:prstGeom>
          <a:ln w="88900" cap="sq" cmpd="thickThin">
            <a:solidFill>
              <a:srgbClr val="000000"/>
            </a:solidFill>
            <a:prstDash val="solid"/>
            <a:miter lim="800000"/>
          </a:ln>
          <a:effectLst>
            <a:innerShdw blurRad="76200">
              <a:srgbClr val="000000"/>
            </a:innerShdw>
          </a:effectLst>
        </p:spPr>
      </p:pic>
      <p:sp>
        <p:nvSpPr>
          <p:cNvPr id="6" name="Rectangle 5"/>
          <p:cNvSpPr/>
          <p:nvPr/>
        </p:nvSpPr>
        <p:spPr>
          <a:xfrm>
            <a:off x="6213089" y="2179967"/>
            <a:ext cx="5140711" cy="352378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Putting  </a:t>
            </a:r>
            <a:r>
              <a:rPr lang="en-US" sz="2400" dirty="0">
                <a:solidFill>
                  <a:schemeClr val="tx1"/>
                </a:solidFill>
              </a:rPr>
              <a:t>in  motion  the  process  of  populating  the  database  with  realistic  data  requires  us  to  create  a  database  based  on  the  schema  that  was  showcased  above.  Therefor  the  database  schema  needs  to  be  exported  from  the  MYSQL Workbench  application  and  imported  to  </a:t>
            </a:r>
            <a:r>
              <a:rPr lang="en-US" sz="2400" dirty="0" err="1">
                <a:solidFill>
                  <a:schemeClr val="tx1"/>
                </a:solidFill>
              </a:rPr>
              <a:t>phpMyAdmin</a:t>
            </a:r>
            <a:r>
              <a:rPr lang="en-US" sz="2400" dirty="0">
                <a:solidFill>
                  <a:schemeClr val="tx1"/>
                </a:solidFill>
              </a:rPr>
              <a:t>.</a:t>
            </a:r>
          </a:p>
        </p:txBody>
      </p:sp>
    </p:spTree>
    <p:extLst>
      <p:ext uri="{BB962C8B-B14F-4D97-AF65-F5344CB8AC3E}">
        <p14:creationId xmlns:p14="http://schemas.microsoft.com/office/powerpoint/2010/main" val="3279208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13</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Populating  The  Database. </a:t>
            </a:r>
            <a:endParaRPr lang="el-GR" sz="3600" dirty="0">
              <a:solidFill>
                <a:schemeClr val="tx1"/>
              </a:solidFill>
            </a:endParaRPr>
          </a:p>
        </p:txBody>
      </p:sp>
      <p:pic>
        <p:nvPicPr>
          <p:cNvPr id="2" name="Picture 1"/>
          <p:cNvPicPr>
            <a:picLocks noChangeAspect="1"/>
          </p:cNvPicPr>
          <p:nvPr/>
        </p:nvPicPr>
        <p:blipFill>
          <a:blip r:embed="rId3"/>
          <a:stretch>
            <a:fillRect/>
          </a:stretch>
        </p:blipFill>
        <p:spPr>
          <a:xfrm>
            <a:off x="89210" y="2184561"/>
            <a:ext cx="3992136" cy="3323952"/>
          </a:xfrm>
          <a:prstGeom prst="rect">
            <a:avLst/>
          </a:prstGeom>
          <a:ln w="88900" cap="sq" cmpd="thickThin">
            <a:solidFill>
              <a:srgbClr val="000000"/>
            </a:solidFill>
            <a:prstDash val="solid"/>
            <a:miter lim="800000"/>
          </a:ln>
          <a:effectLst>
            <a:innerShdw blurRad="76200">
              <a:srgbClr val="000000"/>
            </a:innerShdw>
          </a:effectLst>
        </p:spPr>
      </p:pic>
      <p:sp>
        <p:nvSpPr>
          <p:cNvPr id="6" name="Rectangle 5"/>
          <p:cNvSpPr/>
          <p:nvPr/>
        </p:nvSpPr>
        <p:spPr>
          <a:xfrm>
            <a:off x="4081346" y="1929161"/>
            <a:ext cx="8110654" cy="442719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Char char="-"/>
            </a:pPr>
            <a:r>
              <a:rPr lang="en-US" sz="2400" dirty="0" smtClean="0">
                <a:solidFill>
                  <a:schemeClr val="tx1"/>
                </a:solidFill>
              </a:rPr>
              <a:t> After  </a:t>
            </a:r>
            <a:r>
              <a:rPr lang="en-US" sz="2400" dirty="0">
                <a:solidFill>
                  <a:schemeClr val="tx1"/>
                </a:solidFill>
              </a:rPr>
              <a:t>establishing  the  database  we  have  to  connect  it  with  python  in  order  to  utilize  the  built  in  “faker”  library  that  python  possess  to  populate  our  database  with  realistic  fake  data. </a:t>
            </a:r>
          </a:p>
          <a:p>
            <a:pPr marL="285750" indent="-285750" algn="ctr">
              <a:buFontTx/>
              <a:buChar char="-"/>
            </a:pPr>
            <a:r>
              <a:rPr lang="en-US" sz="2400" dirty="0" smtClean="0">
                <a:solidFill>
                  <a:schemeClr val="tx1"/>
                </a:solidFill>
              </a:rPr>
              <a:t> Faker  </a:t>
            </a:r>
            <a:r>
              <a:rPr lang="en-US" sz="2400" dirty="0">
                <a:solidFill>
                  <a:schemeClr val="tx1"/>
                </a:solidFill>
              </a:rPr>
              <a:t>can  produce  "fake"  data  that  appears  realistic  by  utilizing  so-called  providers.</a:t>
            </a:r>
          </a:p>
          <a:p>
            <a:pPr marL="285750" indent="-285750" algn="ctr">
              <a:buFontTx/>
              <a:buChar char="-"/>
            </a:pPr>
            <a:r>
              <a:rPr lang="en-US" sz="2400" dirty="0" smtClean="0">
                <a:solidFill>
                  <a:schemeClr val="tx1"/>
                </a:solidFill>
              </a:rPr>
              <a:t> Populating  </a:t>
            </a:r>
            <a:r>
              <a:rPr lang="en-US" sz="2400" dirty="0">
                <a:solidFill>
                  <a:schemeClr val="tx1"/>
                </a:solidFill>
              </a:rPr>
              <a:t>the  database  requires  us  to  import  the  faker  library  as  well  as  the  faker  commerce  module  that  is  able  to  generate  commerce  and  product  related  entries.</a:t>
            </a:r>
          </a:p>
          <a:p>
            <a:pPr marL="285750" indent="-285750" algn="ctr">
              <a:buFontTx/>
              <a:buChar char="-"/>
            </a:pPr>
            <a:r>
              <a:rPr lang="en-US" sz="2400" dirty="0" smtClean="0">
                <a:solidFill>
                  <a:schemeClr val="tx1"/>
                </a:solidFill>
              </a:rPr>
              <a:t> Another  </a:t>
            </a:r>
            <a:r>
              <a:rPr lang="en-US" sz="2400" dirty="0">
                <a:solidFill>
                  <a:schemeClr val="tx1"/>
                </a:solidFill>
              </a:rPr>
              <a:t>python  module  that  has  to  be  imported  is  the  Random  module,  that  defines  a  series  of  functions  for  generating  or  manipulating  random  integers. </a:t>
            </a:r>
            <a:endParaRPr lang="el-GR" sz="2400" dirty="0">
              <a:solidFill>
                <a:schemeClr val="tx1"/>
              </a:solidFill>
            </a:endParaRPr>
          </a:p>
        </p:txBody>
      </p:sp>
    </p:spTree>
    <p:extLst>
      <p:ext uri="{BB962C8B-B14F-4D97-AF65-F5344CB8AC3E}">
        <p14:creationId xmlns:p14="http://schemas.microsoft.com/office/powerpoint/2010/main" val="827143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14</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Populating  The  Database. </a:t>
            </a:r>
            <a:endParaRPr lang="el-GR" sz="3600" dirty="0">
              <a:solidFill>
                <a:schemeClr val="tx1"/>
              </a:solidFill>
            </a:endParaRPr>
          </a:p>
        </p:txBody>
      </p:sp>
      <p:pic>
        <p:nvPicPr>
          <p:cNvPr id="4" name="Picture 3"/>
          <p:cNvPicPr>
            <a:picLocks noChangeAspect="1"/>
          </p:cNvPicPr>
          <p:nvPr/>
        </p:nvPicPr>
        <p:blipFill>
          <a:blip r:embed="rId3"/>
          <a:stretch>
            <a:fillRect/>
          </a:stretch>
        </p:blipFill>
        <p:spPr>
          <a:xfrm>
            <a:off x="156118" y="2023055"/>
            <a:ext cx="5664819" cy="4603099"/>
          </a:xfrm>
          <a:prstGeom prst="rect">
            <a:avLst/>
          </a:prstGeom>
          <a:ln w="88900" cap="sq" cmpd="thickThin">
            <a:solidFill>
              <a:srgbClr val="000000"/>
            </a:solidFill>
            <a:prstDash val="solid"/>
            <a:miter lim="800000"/>
          </a:ln>
          <a:effectLst>
            <a:innerShdw blurRad="76200">
              <a:srgbClr val="000000"/>
            </a:innerShdw>
          </a:effectLst>
        </p:spPr>
      </p:pic>
      <p:sp>
        <p:nvSpPr>
          <p:cNvPr id="7" name="Rectangle 6"/>
          <p:cNvSpPr/>
          <p:nvPr/>
        </p:nvSpPr>
        <p:spPr>
          <a:xfrm>
            <a:off x="6501160" y="2185639"/>
            <a:ext cx="4739268" cy="310003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With  </a:t>
            </a:r>
            <a:r>
              <a:rPr lang="en-US" sz="2400" dirty="0">
                <a:solidFill>
                  <a:schemeClr val="tx1"/>
                </a:solidFill>
              </a:rPr>
              <a:t>the  correct  libraries  imported,  the  next  step  to  populate  the  database  should  be  to  run  the  “insert”  queries  for  each  table  of  the  database.</a:t>
            </a:r>
          </a:p>
        </p:txBody>
      </p:sp>
    </p:spTree>
    <p:extLst>
      <p:ext uri="{BB962C8B-B14F-4D97-AF65-F5344CB8AC3E}">
        <p14:creationId xmlns:p14="http://schemas.microsoft.com/office/powerpoint/2010/main" val="124282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15</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Executed  Queries. </a:t>
            </a:r>
            <a:endParaRPr lang="el-GR" sz="3600" dirty="0">
              <a:solidFill>
                <a:schemeClr val="tx1"/>
              </a:solidFill>
            </a:endParaRPr>
          </a:p>
        </p:txBody>
      </p:sp>
      <p:sp>
        <p:nvSpPr>
          <p:cNvPr id="2" name="Rectangle 1"/>
          <p:cNvSpPr/>
          <p:nvPr/>
        </p:nvSpPr>
        <p:spPr>
          <a:xfrm>
            <a:off x="1929161" y="2141034"/>
            <a:ext cx="7950819" cy="400328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Tx/>
              <a:buChar char="-"/>
            </a:pPr>
            <a:r>
              <a:rPr lang="en-US" sz="2400" dirty="0" smtClean="0">
                <a:solidFill>
                  <a:schemeClr val="tx1"/>
                </a:solidFill>
              </a:rPr>
              <a:t> In  </a:t>
            </a:r>
            <a:r>
              <a:rPr lang="en-US" sz="2400" dirty="0">
                <a:solidFill>
                  <a:schemeClr val="tx1"/>
                </a:solidFill>
              </a:rPr>
              <a:t>order  to  showcase  the  functionalities  of  the  system  by  executing  some  queries,  we  utilize  small  flask  applications.</a:t>
            </a:r>
          </a:p>
          <a:p>
            <a:pPr marL="342900" indent="-342900" algn="ctr">
              <a:buFontTx/>
              <a:buChar char="-"/>
            </a:pPr>
            <a:r>
              <a:rPr lang="en-US" sz="2400" dirty="0" smtClean="0">
                <a:solidFill>
                  <a:schemeClr val="tx1"/>
                </a:solidFill>
              </a:rPr>
              <a:t> Flask  </a:t>
            </a:r>
            <a:r>
              <a:rPr lang="en-US" sz="2400" dirty="0">
                <a:solidFill>
                  <a:schemeClr val="tx1"/>
                </a:solidFill>
              </a:rPr>
              <a:t>is  a  compact  framework  that  was  created  from  the  ground  up  to  be  extensible,  it  offers  a  strong  core  with  the  essential  functions,  and  extensions  handle  the  rest.</a:t>
            </a:r>
          </a:p>
          <a:p>
            <a:pPr marL="342900" indent="-342900" algn="ctr">
              <a:buFontTx/>
              <a:buChar char="-"/>
            </a:pPr>
            <a:r>
              <a:rPr lang="en-US" sz="2400" dirty="0" smtClean="0">
                <a:solidFill>
                  <a:schemeClr val="tx1"/>
                </a:solidFill>
              </a:rPr>
              <a:t> In  </a:t>
            </a:r>
            <a:r>
              <a:rPr lang="en-US" sz="2400" dirty="0">
                <a:solidFill>
                  <a:schemeClr val="tx1"/>
                </a:solidFill>
              </a:rPr>
              <a:t>every  query  example,  an  html  page  is  displaying  a  title  and  the  data  in  a  table  form  along  with  the  executed  query. </a:t>
            </a:r>
          </a:p>
        </p:txBody>
      </p:sp>
    </p:spTree>
    <p:extLst>
      <p:ext uri="{BB962C8B-B14F-4D97-AF65-F5344CB8AC3E}">
        <p14:creationId xmlns:p14="http://schemas.microsoft.com/office/powerpoint/2010/main" val="111762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16</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Executed  Queries. </a:t>
            </a:r>
            <a:endParaRPr lang="el-GR" sz="3600" dirty="0">
              <a:solidFill>
                <a:schemeClr val="tx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326" y="2251842"/>
            <a:ext cx="5585403" cy="288183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0079" y="2251842"/>
            <a:ext cx="5752288" cy="3677261"/>
          </a:xfrm>
          <a:prstGeom prst="rect">
            <a:avLst/>
          </a:prstGeom>
        </p:spPr>
      </p:pic>
      <p:sp>
        <p:nvSpPr>
          <p:cNvPr id="6" name="Rectangle 5"/>
          <p:cNvSpPr/>
          <p:nvPr/>
        </p:nvSpPr>
        <p:spPr>
          <a:xfrm>
            <a:off x="390293" y="5363737"/>
            <a:ext cx="5218770" cy="11751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   The  Flask  application  and  HTML page  code  of  the  first  query:</a:t>
            </a:r>
            <a:endParaRPr lang="el-GR" sz="2400" dirty="0">
              <a:solidFill>
                <a:schemeClr val="tx1"/>
              </a:solidFill>
            </a:endParaRPr>
          </a:p>
        </p:txBody>
      </p:sp>
    </p:spTree>
    <p:extLst>
      <p:ext uri="{BB962C8B-B14F-4D97-AF65-F5344CB8AC3E}">
        <p14:creationId xmlns:p14="http://schemas.microsoft.com/office/powerpoint/2010/main" val="1448871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17</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Executed  Queries. </a:t>
            </a:r>
            <a:endParaRPr lang="el-GR" sz="3600" dirty="0">
              <a:solidFill>
                <a:schemeClr val="tx1"/>
              </a:solidFill>
            </a:endParaRPr>
          </a:p>
        </p:txBody>
      </p:sp>
      <p:pic>
        <p:nvPicPr>
          <p:cNvPr id="2" name="Picture 1"/>
          <p:cNvPicPr>
            <a:picLocks noChangeAspect="1"/>
          </p:cNvPicPr>
          <p:nvPr/>
        </p:nvPicPr>
        <p:blipFill>
          <a:blip r:embed="rId3"/>
          <a:stretch>
            <a:fillRect/>
          </a:stretch>
        </p:blipFill>
        <p:spPr>
          <a:xfrm>
            <a:off x="175621" y="2250516"/>
            <a:ext cx="7362603" cy="4390391"/>
          </a:xfrm>
          <a:prstGeom prst="rect">
            <a:avLst/>
          </a:prstGeom>
          <a:ln w="88900" cap="sq" cmpd="thickThin">
            <a:solidFill>
              <a:srgbClr val="000000"/>
            </a:solidFill>
            <a:prstDash val="solid"/>
            <a:miter lim="800000"/>
          </a:ln>
          <a:effectLst>
            <a:innerShdw blurRad="76200">
              <a:srgbClr val="000000"/>
            </a:innerShdw>
          </a:effectLst>
        </p:spPr>
      </p:pic>
      <p:sp>
        <p:nvSpPr>
          <p:cNvPr id="3" name="Rectangle 2"/>
          <p:cNvSpPr/>
          <p:nvPr/>
        </p:nvSpPr>
        <p:spPr>
          <a:xfrm>
            <a:off x="7839307" y="1985393"/>
            <a:ext cx="3891776" cy="401396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In  </a:t>
            </a:r>
            <a:r>
              <a:rPr lang="en-US" sz="2400" dirty="0">
                <a:solidFill>
                  <a:schemeClr val="tx1"/>
                </a:solidFill>
              </a:rPr>
              <a:t>the  first  query  example  the  columns  selected  are  the  names  of  the  products,  their  variations,  the  customer’s  comments  on  the  product  variations  and  the  customer’s  first  and  last  names.</a:t>
            </a:r>
          </a:p>
        </p:txBody>
      </p:sp>
    </p:spTree>
    <p:extLst>
      <p:ext uri="{BB962C8B-B14F-4D97-AF65-F5344CB8AC3E}">
        <p14:creationId xmlns:p14="http://schemas.microsoft.com/office/powerpoint/2010/main" val="2147831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18</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Executed  Queries. </a:t>
            </a:r>
            <a:endParaRPr lang="el-GR" sz="3600" dirty="0">
              <a:solidFill>
                <a:schemeClr val="tx1"/>
              </a:solidFill>
            </a:endParaRPr>
          </a:p>
        </p:txBody>
      </p:sp>
      <p:pic>
        <p:nvPicPr>
          <p:cNvPr id="3" name="Picture 2"/>
          <p:cNvPicPr>
            <a:picLocks noChangeAspect="1"/>
          </p:cNvPicPr>
          <p:nvPr/>
        </p:nvPicPr>
        <p:blipFill>
          <a:blip r:embed="rId3"/>
          <a:stretch>
            <a:fillRect/>
          </a:stretch>
        </p:blipFill>
        <p:spPr>
          <a:xfrm>
            <a:off x="415039" y="2409837"/>
            <a:ext cx="7067681" cy="2686270"/>
          </a:xfrm>
          <a:prstGeom prst="rect">
            <a:avLst/>
          </a:prstGeom>
          <a:ln w="88900" cap="sq" cmpd="thickThin">
            <a:solidFill>
              <a:srgbClr val="000000"/>
            </a:solidFill>
            <a:prstDash val="solid"/>
            <a:miter lim="800000"/>
          </a:ln>
          <a:effectLst>
            <a:innerShdw blurRad="76200">
              <a:srgbClr val="000000"/>
            </a:innerShdw>
          </a:effectLst>
        </p:spPr>
      </p:pic>
      <p:sp>
        <p:nvSpPr>
          <p:cNvPr id="4" name="Rectangle 3"/>
          <p:cNvSpPr/>
          <p:nvPr/>
        </p:nvSpPr>
        <p:spPr>
          <a:xfrm>
            <a:off x="7772400" y="1825624"/>
            <a:ext cx="3992136" cy="4582287"/>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The  </a:t>
            </a:r>
            <a:r>
              <a:rPr lang="en-US" sz="2400" dirty="0">
                <a:solidFill>
                  <a:schemeClr val="tx1"/>
                </a:solidFill>
              </a:rPr>
              <a:t>second  query  example  showcases  a  specific  order  that  contains  two  different  items.  The  columns  selected  are  the  names  of  the  products  and  their  variations,  the  date,  city,  address,  postal  code,  shipment  and  payment  method  of  the  order  and  finally  the  name  of  the  shop.</a:t>
            </a:r>
          </a:p>
        </p:txBody>
      </p:sp>
    </p:spTree>
    <p:extLst>
      <p:ext uri="{BB962C8B-B14F-4D97-AF65-F5344CB8AC3E}">
        <p14:creationId xmlns:p14="http://schemas.microsoft.com/office/powerpoint/2010/main" val="1216633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19</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Executed  Queries. </a:t>
            </a:r>
            <a:endParaRPr lang="el-GR" sz="3600" dirty="0">
              <a:solidFill>
                <a:schemeClr val="tx1"/>
              </a:solidFill>
            </a:endParaRPr>
          </a:p>
        </p:txBody>
      </p:sp>
      <p:pic>
        <p:nvPicPr>
          <p:cNvPr id="2" name="Picture 1"/>
          <p:cNvPicPr>
            <a:picLocks noChangeAspect="1"/>
          </p:cNvPicPr>
          <p:nvPr/>
        </p:nvPicPr>
        <p:blipFill>
          <a:blip r:embed="rId3"/>
          <a:stretch>
            <a:fillRect/>
          </a:stretch>
        </p:blipFill>
        <p:spPr>
          <a:xfrm>
            <a:off x="359211" y="2058719"/>
            <a:ext cx="6855627" cy="4441394"/>
          </a:xfrm>
          <a:prstGeom prst="rect">
            <a:avLst/>
          </a:prstGeom>
          <a:ln w="88900" cap="sq" cmpd="thickThin">
            <a:solidFill>
              <a:srgbClr val="000000"/>
            </a:solidFill>
            <a:prstDash val="solid"/>
            <a:miter lim="800000"/>
          </a:ln>
          <a:effectLst>
            <a:innerShdw blurRad="76200">
              <a:srgbClr val="000000"/>
            </a:innerShdw>
          </a:effectLst>
        </p:spPr>
      </p:pic>
      <p:sp>
        <p:nvSpPr>
          <p:cNvPr id="4" name="Rectangle 3"/>
          <p:cNvSpPr/>
          <p:nvPr/>
        </p:nvSpPr>
        <p:spPr>
          <a:xfrm>
            <a:off x="7738946" y="2058719"/>
            <a:ext cx="4155238" cy="415251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In  </a:t>
            </a:r>
            <a:r>
              <a:rPr lang="en-US" sz="2400" dirty="0">
                <a:solidFill>
                  <a:schemeClr val="tx1"/>
                </a:solidFill>
              </a:rPr>
              <a:t>the  third  query  example  the  columns  selected  are  the  customers  first  and  last  names,  the  product  names  and  variations,  the  quantity  that  was  ordered  by  each  customer,  the  dates  of  the  orders,  and  the  names  of  the  shops.</a:t>
            </a:r>
          </a:p>
        </p:txBody>
      </p:sp>
    </p:spTree>
    <p:extLst>
      <p:ext uri="{BB962C8B-B14F-4D97-AF65-F5344CB8AC3E}">
        <p14:creationId xmlns:p14="http://schemas.microsoft.com/office/powerpoint/2010/main" val="2300395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20</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Executed  Queries. </a:t>
            </a:r>
            <a:endParaRPr lang="el-GR" sz="3600" dirty="0">
              <a:solidFill>
                <a:schemeClr val="tx1"/>
              </a:solidFill>
            </a:endParaRPr>
          </a:p>
        </p:txBody>
      </p:sp>
      <p:pic>
        <p:nvPicPr>
          <p:cNvPr id="3" name="Picture 2"/>
          <p:cNvPicPr>
            <a:picLocks noChangeAspect="1"/>
          </p:cNvPicPr>
          <p:nvPr/>
        </p:nvPicPr>
        <p:blipFill>
          <a:blip r:embed="rId3"/>
          <a:stretch>
            <a:fillRect/>
          </a:stretch>
        </p:blipFill>
        <p:spPr>
          <a:xfrm>
            <a:off x="398535" y="2199893"/>
            <a:ext cx="7031078" cy="2918517"/>
          </a:xfrm>
          <a:prstGeom prst="rect">
            <a:avLst/>
          </a:prstGeom>
          <a:ln w="88900" cap="sq" cmpd="thickThin">
            <a:solidFill>
              <a:srgbClr val="000000"/>
            </a:solidFill>
            <a:prstDash val="solid"/>
            <a:miter lim="800000"/>
          </a:ln>
          <a:effectLst>
            <a:innerShdw blurRad="76200">
              <a:srgbClr val="000000"/>
            </a:innerShdw>
          </a:effectLst>
        </p:spPr>
      </p:pic>
      <p:sp>
        <p:nvSpPr>
          <p:cNvPr id="4" name="Rectangle 3"/>
          <p:cNvSpPr/>
          <p:nvPr/>
        </p:nvSpPr>
        <p:spPr>
          <a:xfrm>
            <a:off x="7738945" y="1825624"/>
            <a:ext cx="4092497" cy="428795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The  </a:t>
            </a:r>
            <a:r>
              <a:rPr lang="en-US" sz="2400" dirty="0">
                <a:solidFill>
                  <a:schemeClr val="tx1"/>
                </a:solidFill>
              </a:rPr>
              <a:t>fourth  query  example  showcases  a  specific  customer  that  has  made  three  comments  on  three  different  shops.  The  columns  selected  are  the  names  of  the  shops,  the  content  of  the  comments,  the  ratings  and  the  dates  of  the  comments,  the  first  and  last  name  of  the  customer.</a:t>
            </a:r>
          </a:p>
        </p:txBody>
      </p:sp>
    </p:spTree>
    <p:extLst>
      <p:ext uri="{BB962C8B-B14F-4D97-AF65-F5344CB8AC3E}">
        <p14:creationId xmlns:p14="http://schemas.microsoft.com/office/powerpoint/2010/main" val="1071364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21</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Executed  Queries. </a:t>
            </a:r>
            <a:endParaRPr lang="el-GR" sz="3600" dirty="0">
              <a:solidFill>
                <a:schemeClr val="tx1"/>
              </a:solidFill>
            </a:endParaRPr>
          </a:p>
        </p:txBody>
      </p:sp>
      <p:pic>
        <p:nvPicPr>
          <p:cNvPr id="2" name="Picture 1"/>
          <p:cNvPicPr>
            <a:picLocks noChangeAspect="1"/>
          </p:cNvPicPr>
          <p:nvPr/>
        </p:nvPicPr>
        <p:blipFill>
          <a:blip r:embed="rId3"/>
          <a:stretch>
            <a:fillRect/>
          </a:stretch>
        </p:blipFill>
        <p:spPr>
          <a:xfrm>
            <a:off x="492511" y="2058719"/>
            <a:ext cx="7068016" cy="4271951"/>
          </a:xfrm>
          <a:prstGeom prst="rect">
            <a:avLst/>
          </a:prstGeom>
          <a:ln w="88900" cap="sq" cmpd="thickThin">
            <a:solidFill>
              <a:srgbClr val="000000"/>
            </a:solidFill>
            <a:prstDash val="solid"/>
            <a:miter lim="800000"/>
          </a:ln>
          <a:effectLst>
            <a:innerShdw blurRad="76200">
              <a:srgbClr val="000000"/>
            </a:innerShdw>
          </a:effectLst>
        </p:spPr>
      </p:pic>
      <p:sp>
        <p:nvSpPr>
          <p:cNvPr id="4" name="Rectangle 3"/>
          <p:cNvSpPr/>
          <p:nvPr/>
        </p:nvSpPr>
        <p:spPr>
          <a:xfrm>
            <a:off x="7973122" y="2058719"/>
            <a:ext cx="3954516" cy="4119057"/>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The  </a:t>
            </a:r>
            <a:r>
              <a:rPr lang="en-US" sz="2400" dirty="0">
                <a:solidFill>
                  <a:schemeClr val="tx1"/>
                </a:solidFill>
              </a:rPr>
              <a:t>fifth  query  example  displays  the  names  of  the  products  along  with  the  names  of  their  categories,  brands,  variations,  primary  and  secondary  colors,  sizes,  vertical  and  horizontal  dimensions,  model  years,  as  well  as  the  names  of  the  shops  that  can  provide  them.</a:t>
            </a:r>
          </a:p>
        </p:txBody>
      </p:sp>
    </p:spTree>
    <p:extLst>
      <p:ext uri="{BB962C8B-B14F-4D97-AF65-F5344CB8AC3E}">
        <p14:creationId xmlns:p14="http://schemas.microsoft.com/office/powerpoint/2010/main" val="2579976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22</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  Executed  Queries. </a:t>
            </a:r>
            <a:endParaRPr lang="el-GR" sz="3600" dirty="0">
              <a:solidFill>
                <a:schemeClr val="tx1"/>
              </a:solidFill>
            </a:endParaRPr>
          </a:p>
        </p:txBody>
      </p:sp>
      <p:pic>
        <p:nvPicPr>
          <p:cNvPr id="3" name="Picture 2"/>
          <p:cNvPicPr>
            <a:picLocks noChangeAspect="1"/>
          </p:cNvPicPr>
          <p:nvPr/>
        </p:nvPicPr>
        <p:blipFill>
          <a:blip r:embed="rId3"/>
          <a:stretch>
            <a:fillRect/>
          </a:stretch>
        </p:blipFill>
        <p:spPr>
          <a:xfrm>
            <a:off x="258315" y="2299368"/>
            <a:ext cx="7309473" cy="2707530"/>
          </a:xfrm>
          <a:prstGeom prst="rect">
            <a:avLst/>
          </a:prstGeom>
          <a:ln w="88900" cap="sq" cmpd="thickThin">
            <a:solidFill>
              <a:srgbClr val="000000"/>
            </a:solidFill>
            <a:prstDash val="solid"/>
            <a:miter lim="800000"/>
          </a:ln>
          <a:effectLst>
            <a:innerShdw blurRad="76200">
              <a:srgbClr val="000000"/>
            </a:innerShdw>
          </a:effectLst>
        </p:spPr>
      </p:pic>
      <p:sp>
        <p:nvSpPr>
          <p:cNvPr id="4" name="Rectangle 3"/>
          <p:cNvSpPr/>
          <p:nvPr/>
        </p:nvSpPr>
        <p:spPr>
          <a:xfrm>
            <a:off x="7917366" y="2040416"/>
            <a:ext cx="3958683" cy="383601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r>
              <a:rPr lang="en-US" sz="2400" dirty="0" smtClean="0">
                <a:solidFill>
                  <a:schemeClr val="tx1"/>
                </a:solidFill>
              </a:rPr>
              <a:t> The  </a:t>
            </a:r>
            <a:r>
              <a:rPr lang="en-US" sz="2400" dirty="0">
                <a:solidFill>
                  <a:schemeClr val="tx1"/>
                </a:solidFill>
              </a:rPr>
              <a:t>final  query  example  displays  the  category,  brand,  variation,  primary  and  secondary  color,  size,  vertical  and  horizontal  dimension,  model  year</a:t>
            </a:r>
            <a:r>
              <a:rPr lang="en-US" sz="2400" dirty="0" smtClean="0">
                <a:solidFill>
                  <a:schemeClr val="tx1"/>
                </a:solidFill>
              </a:rPr>
              <a:t>,  of  the  product  “Keyboard”  </a:t>
            </a:r>
            <a:r>
              <a:rPr lang="en-US" sz="2400" dirty="0">
                <a:solidFill>
                  <a:schemeClr val="tx1"/>
                </a:solidFill>
              </a:rPr>
              <a:t>as  well  as  the  name  of  the  shop  that  can  provide  </a:t>
            </a:r>
            <a:r>
              <a:rPr lang="en-US" sz="2400" dirty="0" smtClean="0">
                <a:solidFill>
                  <a:schemeClr val="tx1"/>
                </a:solidFill>
              </a:rPr>
              <a:t>it.</a:t>
            </a:r>
            <a:endParaRPr lang="el-GR" sz="2400" dirty="0">
              <a:solidFill>
                <a:schemeClr val="tx1"/>
              </a:solidFill>
            </a:endParaRPr>
          </a:p>
        </p:txBody>
      </p:sp>
    </p:spTree>
    <p:extLst>
      <p:ext uri="{BB962C8B-B14F-4D97-AF65-F5344CB8AC3E}">
        <p14:creationId xmlns:p14="http://schemas.microsoft.com/office/powerpoint/2010/main" val="325335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23</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Conclusion. </a:t>
            </a:r>
            <a:endParaRPr lang="el-GR" sz="3600" dirty="0">
              <a:solidFill>
                <a:schemeClr val="tx1"/>
              </a:solidFill>
            </a:endParaRPr>
          </a:p>
        </p:txBody>
      </p:sp>
      <p:sp>
        <p:nvSpPr>
          <p:cNvPr id="2" name="Rectangle 1"/>
          <p:cNvSpPr/>
          <p:nvPr/>
        </p:nvSpPr>
        <p:spPr>
          <a:xfrm>
            <a:off x="1083527" y="2263698"/>
            <a:ext cx="8898673" cy="379141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Tx/>
              <a:buChar char="-"/>
            </a:pPr>
            <a:r>
              <a:rPr lang="en-US" sz="2400" dirty="0">
                <a:solidFill>
                  <a:schemeClr val="tx1"/>
                </a:solidFill>
              </a:rPr>
              <a:t>Populating  large  scale  databases  with  realistic  data  can  prove  to  be  a  very  complicated  </a:t>
            </a:r>
            <a:r>
              <a:rPr lang="en-US" sz="2400" dirty="0" smtClean="0">
                <a:solidFill>
                  <a:schemeClr val="tx1"/>
                </a:solidFill>
              </a:rPr>
              <a:t>task.</a:t>
            </a:r>
          </a:p>
          <a:p>
            <a:pPr marL="342900" indent="-342900" algn="ctr">
              <a:buFontTx/>
              <a:buChar char="-"/>
            </a:pPr>
            <a:r>
              <a:rPr lang="en-US" sz="2400" dirty="0">
                <a:solidFill>
                  <a:schemeClr val="tx1"/>
                </a:solidFill>
              </a:rPr>
              <a:t> </a:t>
            </a:r>
            <a:r>
              <a:rPr lang="en-US" sz="2400" dirty="0" smtClean="0">
                <a:solidFill>
                  <a:schemeClr val="tx1"/>
                </a:solidFill>
              </a:rPr>
              <a:t>The  </a:t>
            </a:r>
            <a:r>
              <a:rPr lang="en-US" sz="2400" dirty="0">
                <a:solidFill>
                  <a:schemeClr val="tx1"/>
                </a:solidFill>
              </a:rPr>
              <a:t>success  of  such  a  project  is  heavily  depended  on  an  efficient  and  functional  database.</a:t>
            </a:r>
          </a:p>
          <a:p>
            <a:pPr marL="342900" indent="-342900" algn="ctr">
              <a:buFontTx/>
              <a:buChar char="-"/>
            </a:pPr>
            <a:r>
              <a:rPr lang="en-US" sz="2400" dirty="0" smtClean="0">
                <a:solidFill>
                  <a:schemeClr val="tx1"/>
                </a:solidFill>
              </a:rPr>
              <a:t> The  </a:t>
            </a:r>
            <a:r>
              <a:rPr lang="en-US" sz="2400" dirty="0">
                <a:solidFill>
                  <a:schemeClr val="tx1"/>
                </a:solidFill>
              </a:rPr>
              <a:t>generation  of  fake  realistic  data  can  be  achieved  by  many  different  approaches,  nonetheless  python  through  its  faker  and  random  libraries  can  accommodate  such  a  task  in  great  capacity. </a:t>
            </a:r>
          </a:p>
        </p:txBody>
      </p:sp>
    </p:spTree>
    <p:extLst>
      <p:ext uri="{BB962C8B-B14F-4D97-AF65-F5344CB8AC3E}">
        <p14:creationId xmlns:p14="http://schemas.microsoft.com/office/powerpoint/2010/main" val="2314595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100000">
              <a:schemeClr val="tx2">
                <a:lumMod val="65000"/>
                <a:lumOff val="3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07462" y="0"/>
            <a:ext cx="2784538" cy="1560501"/>
          </a:xfrm>
          <a:prstGeom prst="rect">
            <a:avLst/>
          </a:prstGeom>
        </p:spPr>
      </p:pic>
      <p:sp>
        <p:nvSpPr>
          <p:cNvPr id="8" name="Slide Number Placeholder 7"/>
          <p:cNvSpPr>
            <a:spLocks noGrp="1"/>
          </p:cNvSpPr>
          <p:nvPr>
            <p:ph type="sldNum" sz="quarter" idx="12"/>
          </p:nvPr>
        </p:nvSpPr>
        <p:spPr/>
        <p:txBody>
          <a:bodyPr/>
          <a:lstStyle/>
          <a:p>
            <a:fld id="{5D617892-D5B5-4468-B8C4-C6F28AD00A19}" type="slidenum">
              <a:rPr lang="el-GR" smtClean="0">
                <a:solidFill>
                  <a:schemeClr val="tx1"/>
                </a:solidFill>
              </a:rPr>
              <a:t>24</a:t>
            </a:fld>
            <a:endParaRPr lang="el-GR" dirty="0">
              <a:solidFill>
                <a:schemeClr val="tx1"/>
              </a:solidFill>
            </a:endParaRPr>
          </a:p>
        </p:txBody>
      </p:sp>
      <p:sp>
        <p:nvSpPr>
          <p:cNvPr id="20" name="Double Wave 19"/>
          <p:cNvSpPr/>
          <p:nvPr/>
        </p:nvSpPr>
        <p:spPr>
          <a:xfrm>
            <a:off x="492511" y="500061"/>
            <a:ext cx="6008649" cy="1325563"/>
          </a:xfrm>
          <a:prstGeom prst="doubleWav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References. </a:t>
            </a:r>
            <a:endParaRPr lang="el-GR" sz="3600" dirty="0">
              <a:solidFill>
                <a:schemeClr val="tx1"/>
              </a:solidFill>
            </a:endParaRPr>
          </a:p>
        </p:txBody>
      </p:sp>
      <p:sp>
        <p:nvSpPr>
          <p:cNvPr id="7" name="Rectangle 6"/>
          <p:cNvSpPr/>
          <p:nvPr/>
        </p:nvSpPr>
        <p:spPr>
          <a:xfrm>
            <a:off x="747131" y="2242704"/>
            <a:ext cx="10259121" cy="3970318"/>
          </a:xfrm>
          <a:prstGeom prst="rect">
            <a:avLst/>
          </a:prstGeom>
        </p:spPr>
        <p:txBody>
          <a:bodyPr wrap="square">
            <a:spAutoFit/>
          </a:bodyPr>
          <a:lstStyle/>
          <a:p>
            <a:pPr algn="just"/>
            <a:r>
              <a:rPr lang="en-US" dirty="0"/>
              <a:t>1.)	 </a:t>
            </a:r>
            <a:r>
              <a:rPr lang="en-US" dirty="0" err="1"/>
              <a:t>Dankar</a:t>
            </a:r>
            <a:r>
              <a:rPr lang="en-US" dirty="0"/>
              <a:t>, F.K. and Ibrahim, M., 2021. Fake it till you make it: Guidelines for effective synthetic data generation. Applied Sciences, 11(5), p.2158.</a:t>
            </a:r>
          </a:p>
          <a:p>
            <a:pPr algn="just"/>
            <a:r>
              <a:rPr lang="en-US" dirty="0"/>
              <a:t>2.)	 James, S., </a:t>
            </a:r>
            <a:r>
              <a:rPr lang="en-US" dirty="0" err="1"/>
              <a:t>Harbron</a:t>
            </a:r>
            <a:r>
              <a:rPr lang="en-US" dirty="0"/>
              <a:t>, C., Branson, J. and </a:t>
            </a:r>
            <a:r>
              <a:rPr lang="en-US" dirty="0" err="1"/>
              <a:t>Sundler</a:t>
            </a:r>
            <a:r>
              <a:rPr lang="en-US" dirty="0"/>
              <a:t>, M., 2021. Synthetic data use: exploring use cases to </a:t>
            </a:r>
            <a:r>
              <a:rPr lang="en-US" dirty="0" err="1"/>
              <a:t>optimise</a:t>
            </a:r>
            <a:r>
              <a:rPr lang="en-US" dirty="0"/>
              <a:t> data utility. Discover Artificial Intelligence, 1(1), p.15.</a:t>
            </a:r>
          </a:p>
          <a:p>
            <a:pPr algn="just"/>
            <a:r>
              <a:rPr lang="en-US" dirty="0"/>
              <a:t>3.)	 Connolly, T.M. and </a:t>
            </a:r>
            <a:r>
              <a:rPr lang="en-US" dirty="0" err="1"/>
              <a:t>Begg</a:t>
            </a:r>
            <a:r>
              <a:rPr lang="en-US" dirty="0"/>
              <a:t>, C.E., 2005. Database systems: a practical approach to design, implementation, and management. Pearson Education.</a:t>
            </a:r>
          </a:p>
          <a:p>
            <a:pPr algn="just"/>
            <a:r>
              <a:rPr lang="en-US" dirty="0"/>
              <a:t>4.)	 Harrington, J.L., 2016. Relational database design and implementation. Morgan Kaufmann.</a:t>
            </a:r>
          </a:p>
          <a:p>
            <a:pPr algn="just"/>
            <a:r>
              <a:rPr lang="en-US" dirty="0"/>
              <a:t>5.)	 </a:t>
            </a:r>
            <a:r>
              <a:rPr lang="en-US" dirty="0" err="1"/>
              <a:t>Carrola</a:t>
            </a:r>
            <a:r>
              <a:rPr lang="en-US" dirty="0"/>
              <a:t>, A., 2022. Synthesizing Realistic Substitute Data for a Law Enforcement Database using a Python Library. West Virginia University.</a:t>
            </a:r>
          </a:p>
          <a:p>
            <a:pPr algn="just"/>
            <a:r>
              <a:rPr lang="en-US" dirty="0"/>
              <a:t>6.)	 </a:t>
            </a:r>
            <a:r>
              <a:rPr lang="en-US" dirty="0" err="1"/>
              <a:t>Grinberg</a:t>
            </a:r>
            <a:r>
              <a:rPr lang="en-US" dirty="0"/>
              <a:t>, M., 2018. Flask web development: developing web applications with python. " O'Reilly Media, Inc.".</a:t>
            </a:r>
          </a:p>
          <a:p>
            <a:pPr algn="just"/>
            <a:r>
              <a:rPr lang="en-US" dirty="0"/>
              <a:t>7.)	 </a:t>
            </a:r>
            <a:r>
              <a:rPr lang="en-US" dirty="0" err="1"/>
              <a:t>Ghimire</a:t>
            </a:r>
            <a:r>
              <a:rPr lang="en-US" dirty="0"/>
              <a:t>, D., 2020. Comparative study on Python web frameworks: Flask and Django.</a:t>
            </a:r>
          </a:p>
          <a:p>
            <a:pPr algn="just"/>
            <a:r>
              <a:rPr lang="en-US" dirty="0"/>
              <a:t>8.)	 El </a:t>
            </a:r>
            <a:r>
              <a:rPr lang="en-US" dirty="0" err="1"/>
              <a:t>Emam</a:t>
            </a:r>
            <a:r>
              <a:rPr lang="en-US" dirty="0"/>
              <a:t>, K., </a:t>
            </a:r>
            <a:r>
              <a:rPr lang="en-US" dirty="0" err="1"/>
              <a:t>Mosquera</a:t>
            </a:r>
            <a:r>
              <a:rPr lang="en-US" dirty="0"/>
              <a:t>, L. and </a:t>
            </a:r>
            <a:r>
              <a:rPr lang="en-US" dirty="0" err="1"/>
              <a:t>Hoptroff</a:t>
            </a:r>
            <a:r>
              <a:rPr lang="en-US" dirty="0"/>
              <a:t>, R., 2020. Practical synthetic data generation: balancing privacy and the broad availability of data. O'Reilly Media.</a:t>
            </a:r>
          </a:p>
        </p:txBody>
      </p:sp>
    </p:spTree>
    <p:extLst>
      <p:ext uri="{BB962C8B-B14F-4D97-AF65-F5344CB8AC3E}">
        <p14:creationId xmlns:p14="http://schemas.microsoft.com/office/powerpoint/2010/main" val="1386345068"/>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1610</TotalTime>
  <Words>1391</Words>
  <Application>Microsoft Office PowerPoint</Application>
  <PresentationFormat>Widescreen</PresentationFormat>
  <Paragraphs>115</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Mathaios Hatzimichael</dc:creator>
  <cp:lastModifiedBy>Mathaios Hatzimichael</cp:lastModifiedBy>
  <cp:revision>43</cp:revision>
  <dcterms:created xsi:type="dcterms:W3CDTF">2024-01-22T18:56:20Z</dcterms:created>
  <dcterms:modified xsi:type="dcterms:W3CDTF">2024-01-24T19:12:27Z</dcterms:modified>
</cp:coreProperties>
</file>